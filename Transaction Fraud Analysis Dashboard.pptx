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4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3625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linkedin.com/in/eveline-wasonga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5.jpeg"/><Relationship Id="rId7" Type="http://schemas.openxmlformats.org/officeDocument/2006/relationships/image" Target="../media/image1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5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7.png"/><Relationship Id="rId10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jp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g"/><Relationship Id="rId3" Type="http://schemas.openxmlformats.org/officeDocument/2006/relationships/image" Target="../media/image5.jpe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g"/><Relationship Id="rId3" Type="http://schemas.openxmlformats.org/officeDocument/2006/relationships/image" Target="../media/image5.jpeg"/><Relationship Id="rId7" Type="http://schemas.openxmlformats.org/officeDocument/2006/relationships/image" Target="../media/image2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jp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29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g"/><Relationship Id="rId3" Type="http://schemas.openxmlformats.org/officeDocument/2006/relationships/image" Target="../media/image5.jpeg"/><Relationship Id="rId7" Type="http://schemas.openxmlformats.org/officeDocument/2006/relationships/image" Target="../media/image3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jp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jpg"/><Relationship Id="rId3" Type="http://schemas.openxmlformats.org/officeDocument/2006/relationships/image" Target="../media/image5.jpeg"/><Relationship Id="rId7" Type="http://schemas.openxmlformats.org/officeDocument/2006/relationships/image" Target="../media/image3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jp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37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9796" y="2865312"/>
            <a:ext cx="2544408" cy="40504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296" dirty="0">
                <a:solidFill>
                  <a:srgbClr val="002B7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  <a:hlinkClick r:id="rId4"/>
              </a:rPr>
              <a:t>Eveline Wasonga</a:t>
            </a:r>
            <a:endParaRPr lang="en-US" sz="1440" dirty="0"/>
          </a:p>
        </p:txBody>
      </p:sp>
      <p:sp>
        <p:nvSpPr>
          <p:cNvPr id="3" name="Shape 1"/>
          <p:cNvSpPr/>
          <p:nvPr/>
        </p:nvSpPr>
        <p:spPr>
          <a:xfrm>
            <a:off x="2307643" y="2813092"/>
            <a:ext cx="4528714" cy="0"/>
          </a:xfrm>
          <a:custGeom>
            <a:avLst/>
            <a:gdLst/>
            <a:ahLst/>
            <a:cxnLst/>
            <a:rect l="l" t="t" r="r" b="b"/>
            <a:pathLst>
              <a:path w="4528714">
                <a:moveTo>
                  <a:pt x="0" y="0"/>
                </a:moveTo>
                <a:moveTo>
                  <a:pt x="0" y="0"/>
                </a:moveTo>
                <a:lnTo>
                  <a:pt x="4528714" y="0"/>
                </a:lnTo>
              </a:path>
            </a:pathLst>
          </a:custGeom>
          <a:noFill/>
          <a:ln w="9525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652472" y="1066371"/>
            <a:ext cx="7839056" cy="11430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b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3456" b="1" kern="0" spc="72" dirty="0">
                <a:solidFill>
                  <a:srgbClr val="002B7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Transaction Fraud &amp; Anomaly Analysis Dashboard</a:t>
            </a:r>
            <a:endParaRPr lang="en-US" sz="1440" dirty="0"/>
          </a:p>
        </p:txBody>
      </p:sp>
      <p:sp>
        <p:nvSpPr>
          <p:cNvPr id="5" name="Text 3"/>
          <p:cNvSpPr/>
          <p:nvPr/>
        </p:nvSpPr>
        <p:spPr>
          <a:xfrm>
            <a:off x="1745695" y="2209371"/>
            <a:ext cx="5652609" cy="49377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5A85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Patterns and Risk Indicators</a:t>
            </a:r>
            <a:endParaRPr lang="en-US" sz="14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02873" y="490452"/>
            <a:ext cx="3399300" cy="95097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4032" b="1" dirty="0">
                <a:solidFill>
                  <a:srgbClr val="005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CONTENT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1266574" y="1749068"/>
            <a:ext cx="3335950" cy="42976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Transaction Analysis Overview</a:t>
            </a:r>
            <a:endParaRPr lang="en-US" sz="1440" dirty="0"/>
          </a:p>
        </p:txBody>
      </p:sp>
      <p:sp>
        <p:nvSpPr>
          <p:cNvPr id="4" name="Text 2"/>
          <p:cNvSpPr/>
          <p:nvPr/>
        </p:nvSpPr>
        <p:spPr>
          <a:xfrm>
            <a:off x="707833" y="1643912"/>
            <a:ext cx="713232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005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  <p:sp>
        <p:nvSpPr>
          <p:cNvPr id="5" name="Text 3"/>
          <p:cNvSpPr/>
          <p:nvPr/>
        </p:nvSpPr>
        <p:spPr>
          <a:xfrm>
            <a:off x="5099303" y="1762784"/>
            <a:ext cx="3335950" cy="4023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Merchant and Client Insights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541083" y="1643912"/>
            <a:ext cx="713232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005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  <p:sp>
        <p:nvSpPr>
          <p:cNvPr id="7" name="Text 5"/>
          <p:cNvSpPr/>
          <p:nvPr/>
        </p:nvSpPr>
        <p:spPr>
          <a:xfrm>
            <a:off x="1267052" y="2454071"/>
            <a:ext cx="3335471" cy="4023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Geographic Transaction Patterns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707918" y="2335199"/>
            <a:ext cx="713232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005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70" y="1959269"/>
            <a:ext cx="5221112" cy="55778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005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Transaction Analysis Overview</a:t>
            </a:r>
            <a:endParaRPr lang="en-US" sz="1440" dirty="0"/>
          </a:p>
        </p:txBody>
      </p:sp>
      <p:sp>
        <p:nvSpPr>
          <p:cNvPr id="4" name="Text 1"/>
          <p:cNvSpPr/>
          <p:nvPr/>
        </p:nvSpPr>
        <p:spPr>
          <a:xfrm>
            <a:off x="345154" y="742055"/>
            <a:ext cx="1356643" cy="92354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888" b="1" dirty="0">
                <a:solidFill>
                  <a:srgbClr val="002B7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5128" y="102771"/>
            <a:ext cx="7150733" cy="52328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02B7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Summary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489" y="222075"/>
            <a:ext cx="346608" cy="34660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897" y="222075"/>
            <a:ext cx="346608" cy="34660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305" y="222075"/>
            <a:ext cx="346608" cy="346608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372936" y="1632376"/>
            <a:ext cx="8158184" cy="0"/>
          </a:xfrm>
          <a:custGeom>
            <a:avLst/>
            <a:gdLst/>
            <a:ahLst/>
            <a:cxnLst/>
            <a:rect l="l" t="t" r="r" b="b"/>
            <a:pathLst>
              <a:path w="8158184">
                <a:moveTo>
                  <a:pt x="0" y="0"/>
                </a:moveTo>
                <a:moveTo>
                  <a:pt x="0" y="0"/>
                </a:moveTo>
                <a:lnTo>
                  <a:pt x="8158184" y="0"/>
                </a:lnTo>
              </a:path>
            </a:pathLst>
          </a:custGeom>
          <a:noFill/>
          <a:ln w="152400">
            <a:solidFill>
              <a:srgbClr val="0055FF"/>
            </a:solidFill>
            <a:prstDash val="solid"/>
            <a:headEnd type="none"/>
            <a:tailEnd type="arrow"/>
          </a:ln>
        </p:spPr>
      </p:sp>
      <p:sp>
        <p:nvSpPr>
          <p:cNvPr id="7" name="Shape 2"/>
          <p:cNvSpPr/>
          <p:nvPr/>
        </p:nvSpPr>
        <p:spPr>
          <a:xfrm>
            <a:off x="1027484" y="1095076"/>
            <a:ext cx="972126" cy="972126"/>
          </a:xfrm>
          <a:custGeom>
            <a:avLst/>
            <a:gdLst/>
            <a:ahLst/>
            <a:cxnLst/>
            <a:rect l="l" t="t" r="r" b="b"/>
            <a:pathLst>
              <a:path w="972126" h="972126">
                <a:moveTo>
                  <a:pt x="486063" y="0"/>
                </a:moveTo>
                <a:moveTo>
                  <a:pt x="486063" y="0"/>
                </a:moveTo>
                <a:cubicBezTo>
                  <a:pt x="754329" y="0"/>
                  <a:pt x="972126" y="217798"/>
                  <a:pt x="972126" y="486063"/>
                </a:cubicBezTo>
                <a:cubicBezTo>
                  <a:pt x="972126" y="754329"/>
                  <a:pt x="754329" y="972126"/>
                  <a:pt x="486063" y="972126"/>
                </a:cubicBezTo>
                <a:cubicBezTo>
                  <a:pt x="217798" y="972126"/>
                  <a:pt x="0" y="754329"/>
                  <a:pt x="0" y="486063"/>
                </a:cubicBezTo>
                <a:cubicBezTo>
                  <a:pt x="0" y="217798"/>
                  <a:pt x="217798" y="0"/>
                  <a:pt x="486063" y="0"/>
                </a:cubicBezTo>
                <a:close/>
              </a:path>
            </a:pathLst>
          </a:custGeom>
          <a:solidFill>
            <a:srgbClr val="0055FF"/>
          </a:solidFill>
          <a:ln/>
        </p:spPr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6694" y="1334286"/>
            <a:ext cx="493706" cy="493706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525622" y="2874193"/>
            <a:ext cx="1787594" cy="0"/>
          </a:xfrm>
          <a:custGeom>
            <a:avLst/>
            <a:gdLst/>
            <a:ahLst/>
            <a:cxnLst/>
            <a:rect l="l" t="t" r="r" b="b"/>
            <a:pathLst>
              <a:path w="1787594">
                <a:moveTo>
                  <a:pt x="0" y="0"/>
                </a:moveTo>
                <a:moveTo>
                  <a:pt x="0" y="0"/>
                </a:moveTo>
                <a:lnTo>
                  <a:pt x="1787594" y="0"/>
                </a:lnTo>
              </a:path>
            </a:pathLst>
          </a:custGeom>
          <a:noFill/>
          <a:ln w="8680">
            <a:solidFill>
              <a:srgbClr val="E1E1E1"/>
            </a:solidFill>
            <a:prstDash val="solid"/>
            <a:headEnd type="none"/>
            <a:tailEnd type="none"/>
          </a:ln>
        </p:spPr>
      </p:sp>
      <p:sp>
        <p:nvSpPr>
          <p:cNvPr id="10" name="Shape 4"/>
          <p:cNvSpPr/>
          <p:nvPr/>
        </p:nvSpPr>
        <p:spPr>
          <a:xfrm>
            <a:off x="3162019" y="1095076"/>
            <a:ext cx="972126" cy="972126"/>
          </a:xfrm>
          <a:custGeom>
            <a:avLst/>
            <a:gdLst/>
            <a:ahLst/>
            <a:cxnLst/>
            <a:rect l="l" t="t" r="r" b="b"/>
            <a:pathLst>
              <a:path w="972126" h="972126">
                <a:moveTo>
                  <a:pt x="486063" y="0"/>
                </a:moveTo>
                <a:moveTo>
                  <a:pt x="486063" y="0"/>
                </a:moveTo>
                <a:cubicBezTo>
                  <a:pt x="754329" y="0"/>
                  <a:pt x="972126" y="217798"/>
                  <a:pt x="972126" y="486063"/>
                </a:cubicBezTo>
                <a:cubicBezTo>
                  <a:pt x="972126" y="754329"/>
                  <a:pt x="754329" y="972126"/>
                  <a:pt x="486063" y="972126"/>
                </a:cubicBezTo>
                <a:cubicBezTo>
                  <a:pt x="217798" y="972126"/>
                  <a:pt x="0" y="754329"/>
                  <a:pt x="0" y="486063"/>
                </a:cubicBezTo>
                <a:cubicBezTo>
                  <a:pt x="0" y="217798"/>
                  <a:pt x="217798" y="0"/>
                  <a:pt x="486063" y="0"/>
                </a:cubicBezTo>
                <a:close/>
              </a:path>
            </a:pathLst>
          </a:custGeom>
          <a:solidFill>
            <a:srgbClr val="0055FF"/>
          </a:solidFill>
          <a:ln/>
        </p:spPr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8841" y="1391898"/>
            <a:ext cx="378481" cy="378481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5195882" y="1095076"/>
            <a:ext cx="972126" cy="972126"/>
          </a:xfrm>
          <a:custGeom>
            <a:avLst/>
            <a:gdLst/>
            <a:ahLst/>
            <a:cxnLst/>
            <a:rect l="l" t="t" r="r" b="b"/>
            <a:pathLst>
              <a:path w="972126" h="972126">
                <a:moveTo>
                  <a:pt x="486063" y="0"/>
                </a:moveTo>
                <a:moveTo>
                  <a:pt x="486063" y="0"/>
                </a:moveTo>
                <a:cubicBezTo>
                  <a:pt x="754329" y="0"/>
                  <a:pt x="972126" y="217798"/>
                  <a:pt x="972126" y="486063"/>
                </a:cubicBezTo>
                <a:cubicBezTo>
                  <a:pt x="972126" y="754329"/>
                  <a:pt x="754329" y="972126"/>
                  <a:pt x="486063" y="972126"/>
                </a:cubicBezTo>
                <a:cubicBezTo>
                  <a:pt x="217798" y="972126"/>
                  <a:pt x="0" y="754329"/>
                  <a:pt x="0" y="486063"/>
                </a:cubicBezTo>
                <a:cubicBezTo>
                  <a:pt x="0" y="217798"/>
                  <a:pt x="217798" y="0"/>
                  <a:pt x="486063" y="0"/>
                </a:cubicBezTo>
                <a:close/>
              </a:path>
            </a:pathLst>
          </a:custGeom>
          <a:solidFill>
            <a:srgbClr val="0055FF"/>
          </a:solidFill>
          <a:ln/>
        </p:spPr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98085" y="1303586"/>
            <a:ext cx="567722" cy="555106"/>
          </a:xfrm>
          <a:prstGeom prst="rect">
            <a:avLst/>
          </a:prstGeom>
        </p:spPr>
      </p:pic>
      <p:sp>
        <p:nvSpPr>
          <p:cNvPr id="14" name="Shape 6"/>
          <p:cNvSpPr/>
          <p:nvPr/>
        </p:nvSpPr>
        <p:spPr>
          <a:xfrm>
            <a:off x="7129075" y="1095076"/>
            <a:ext cx="972126" cy="972126"/>
          </a:xfrm>
          <a:custGeom>
            <a:avLst/>
            <a:gdLst/>
            <a:ahLst/>
            <a:cxnLst/>
            <a:rect l="l" t="t" r="r" b="b"/>
            <a:pathLst>
              <a:path w="972126" h="972126">
                <a:moveTo>
                  <a:pt x="486063" y="0"/>
                </a:moveTo>
                <a:moveTo>
                  <a:pt x="486063" y="0"/>
                </a:moveTo>
                <a:cubicBezTo>
                  <a:pt x="754329" y="0"/>
                  <a:pt x="972126" y="217798"/>
                  <a:pt x="972126" y="486063"/>
                </a:cubicBezTo>
                <a:cubicBezTo>
                  <a:pt x="972126" y="754329"/>
                  <a:pt x="754329" y="972126"/>
                  <a:pt x="486063" y="972126"/>
                </a:cubicBezTo>
                <a:cubicBezTo>
                  <a:pt x="217798" y="972126"/>
                  <a:pt x="0" y="754329"/>
                  <a:pt x="0" y="486063"/>
                </a:cubicBezTo>
                <a:cubicBezTo>
                  <a:pt x="0" y="217798"/>
                  <a:pt x="217798" y="0"/>
                  <a:pt x="486063" y="0"/>
                </a:cubicBezTo>
                <a:close/>
              </a:path>
            </a:pathLst>
          </a:custGeom>
          <a:solidFill>
            <a:srgbClr val="0055FF"/>
          </a:solidFill>
          <a:ln/>
        </p:spPr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13282" y="1379282"/>
            <a:ext cx="403713" cy="403713"/>
          </a:xfrm>
          <a:prstGeom prst="rect">
            <a:avLst/>
          </a:prstGeom>
        </p:spPr>
      </p:pic>
      <p:sp>
        <p:nvSpPr>
          <p:cNvPr id="16" name="Shape 7"/>
          <p:cNvSpPr/>
          <p:nvPr/>
        </p:nvSpPr>
        <p:spPr>
          <a:xfrm>
            <a:off x="2696733" y="2874193"/>
            <a:ext cx="1787594" cy="0"/>
          </a:xfrm>
          <a:custGeom>
            <a:avLst/>
            <a:gdLst/>
            <a:ahLst/>
            <a:cxnLst/>
            <a:rect l="l" t="t" r="r" b="b"/>
            <a:pathLst>
              <a:path w="1787594">
                <a:moveTo>
                  <a:pt x="0" y="0"/>
                </a:moveTo>
                <a:moveTo>
                  <a:pt x="0" y="0"/>
                </a:moveTo>
                <a:lnTo>
                  <a:pt x="1787594" y="0"/>
                </a:lnTo>
              </a:path>
            </a:pathLst>
          </a:custGeom>
          <a:noFill/>
          <a:ln w="8680">
            <a:solidFill>
              <a:srgbClr val="E1E1E1"/>
            </a:solidFill>
            <a:prstDash val="solid"/>
            <a:headEnd type="none"/>
            <a:tailEnd type="none"/>
          </a:ln>
        </p:spPr>
      </p:sp>
      <p:sp>
        <p:nvSpPr>
          <p:cNvPr id="17" name="Shape 8"/>
          <p:cNvSpPr/>
          <p:nvPr/>
        </p:nvSpPr>
        <p:spPr>
          <a:xfrm>
            <a:off x="4803749" y="2874193"/>
            <a:ext cx="1787594" cy="0"/>
          </a:xfrm>
          <a:custGeom>
            <a:avLst/>
            <a:gdLst/>
            <a:ahLst/>
            <a:cxnLst/>
            <a:rect l="l" t="t" r="r" b="b"/>
            <a:pathLst>
              <a:path w="1787594">
                <a:moveTo>
                  <a:pt x="0" y="0"/>
                </a:moveTo>
                <a:moveTo>
                  <a:pt x="0" y="0"/>
                </a:moveTo>
                <a:lnTo>
                  <a:pt x="1787594" y="0"/>
                </a:lnTo>
              </a:path>
            </a:pathLst>
          </a:custGeom>
          <a:noFill/>
          <a:ln w="8680">
            <a:solidFill>
              <a:srgbClr val="E1E1E1"/>
            </a:solidFill>
            <a:prstDash val="solid"/>
            <a:headEnd type="none"/>
            <a:tailEnd type="none"/>
          </a:ln>
        </p:spPr>
      </p:sp>
      <p:sp>
        <p:nvSpPr>
          <p:cNvPr id="18" name="Shape 9"/>
          <p:cNvSpPr/>
          <p:nvPr/>
        </p:nvSpPr>
        <p:spPr>
          <a:xfrm>
            <a:off x="6826842" y="2874193"/>
            <a:ext cx="1787594" cy="0"/>
          </a:xfrm>
          <a:custGeom>
            <a:avLst/>
            <a:gdLst/>
            <a:ahLst/>
            <a:cxnLst/>
            <a:rect l="l" t="t" r="r" b="b"/>
            <a:pathLst>
              <a:path w="1787594">
                <a:moveTo>
                  <a:pt x="0" y="0"/>
                </a:moveTo>
                <a:moveTo>
                  <a:pt x="0" y="0"/>
                </a:moveTo>
                <a:lnTo>
                  <a:pt x="1787594" y="0"/>
                </a:lnTo>
              </a:path>
            </a:pathLst>
          </a:custGeom>
          <a:noFill/>
          <a:ln w="8680">
            <a:solidFill>
              <a:srgbClr val="E1E1E1"/>
            </a:solidFill>
            <a:prstDash val="solid"/>
            <a:headEnd type="none"/>
            <a:tailEnd type="none"/>
          </a:ln>
        </p:spPr>
      </p:sp>
      <p:sp>
        <p:nvSpPr>
          <p:cNvPr id="19" name="Text 10"/>
          <p:cNvSpPr/>
          <p:nvPr/>
        </p:nvSpPr>
        <p:spPr>
          <a:xfrm>
            <a:off x="525622" y="2151817"/>
            <a:ext cx="1829546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Statistical Overview</a:t>
            </a:r>
            <a:endParaRPr lang="en-US" sz="1440" dirty="0"/>
          </a:p>
        </p:txBody>
      </p:sp>
      <p:sp>
        <p:nvSpPr>
          <p:cNvPr id="20" name="Text 11"/>
          <p:cNvSpPr/>
          <p:nvPr/>
        </p:nvSpPr>
        <p:spPr>
          <a:xfrm>
            <a:off x="525622" y="2874193"/>
            <a:ext cx="1829546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Mean 43.77, standard deviation 85.33, minimum -500, maximum 6,820.20.</a:t>
            </a:r>
            <a:endParaRPr lang="en-US" sz="1440" dirty="0"/>
          </a:p>
        </p:txBody>
      </p:sp>
      <p:sp>
        <p:nvSpPr>
          <p:cNvPr id="21" name="Text 12"/>
          <p:cNvSpPr/>
          <p:nvPr/>
        </p:nvSpPr>
        <p:spPr>
          <a:xfrm>
            <a:off x="2696733" y="2151817"/>
            <a:ext cx="1829546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Transaction Types</a:t>
            </a:r>
            <a:endParaRPr lang="en-US" sz="1440" dirty="0"/>
          </a:p>
        </p:txBody>
      </p:sp>
      <p:sp>
        <p:nvSpPr>
          <p:cNvPr id="22" name="Text 13"/>
          <p:cNvSpPr/>
          <p:nvPr/>
        </p:nvSpPr>
        <p:spPr>
          <a:xfrm>
            <a:off x="2696733" y="2874193"/>
            <a:ext cx="1829546" cy="96789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Swipe transactions dominate with 934,123  (89.1%) versus 114,249 online transactions (10.9%).</a:t>
            </a:r>
            <a:endParaRPr lang="en-US" sz="1440" dirty="0"/>
          </a:p>
        </p:txBody>
      </p:sp>
      <p:sp>
        <p:nvSpPr>
          <p:cNvPr id="23" name="Text 14"/>
          <p:cNvSpPr/>
          <p:nvPr/>
        </p:nvSpPr>
        <p:spPr>
          <a:xfrm>
            <a:off x="4803749" y="2151817"/>
            <a:ext cx="1829546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Common Errors</a:t>
            </a:r>
            <a:endParaRPr lang="en-US" sz="1440" dirty="0"/>
          </a:p>
        </p:txBody>
      </p:sp>
      <p:sp>
        <p:nvSpPr>
          <p:cNvPr id="24" name="Text 15"/>
          <p:cNvSpPr/>
          <p:nvPr/>
        </p:nvSpPr>
        <p:spPr>
          <a:xfrm>
            <a:off x="4803749" y="2874193"/>
            <a:ext cx="1829546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Insufficient balance leads errors with 852 occurrences, followed by bad card numbers at 561.</a:t>
            </a:r>
            <a:endParaRPr lang="en-US" sz="1440" dirty="0"/>
          </a:p>
        </p:txBody>
      </p:sp>
      <p:sp>
        <p:nvSpPr>
          <p:cNvPr id="25" name="Text 16"/>
          <p:cNvSpPr/>
          <p:nvPr/>
        </p:nvSpPr>
        <p:spPr>
          <a:xfrm>
            <a:off x="6826842" y="2151817"/>
            <a:ext cx="1829546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Fraud Indicators</a:t>
            </a:r>
            <a:endParaRPr lang="en-US" sz="1440" dirty="0"/>
          </a:p>
        </p:txBody>
      </p:sp>
      <p:sp>
        <p:nvSpPr>
          <p:cNvPr id="26" name="Text 17"/>
          <p:cNvSpPr/>
          <p:nvPr/>
        </p:nvSpPr>
        <p:spPr>
          <a:xfrm>
            <a:off x="6826842" y="2874193"/>
            <a:ext cx="1829546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Multiple failed attempts before success flag potential fraud activity across high-volume clients.</a:t>
            </a:r>
            <a:endParaRPr lang="en-US" sz="14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5128" y="102771"/>
            <a:ext cx="7150733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02B7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Swipe vs Online transactions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489" y="222075"/>
            <a:ext cx="346608" cy="34660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897" y="222075"/>
            <a:ext cx="346608" cy="34660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305" y="222075"/>
            <a:ext cx="346608" cy="346608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259603" y="1093358"/>
            <a:ext cx="2044598" cy="3664012"/>
          </a:xfrm>
          <a:custGeom>
            <a:avLst/>
            <a:gdLst/>
            <a:ahLst/>
            <a:cxnLst/>
            <a:rect l="l" t="t" r="r" b="b"/>
            <a:pathLst>
              <a:path w="2044598" h="3664012">
                <a:moveTo>
                  <a:pt x="0" y="0"/>
                </a:moveTo>
                <a:moveTo>
                  <a:pt x="0" y="0"/>
                </a:moveTo>
                <a:lnTo>
                  <a:pt x="2044598" y="0"/>
                </a:lnTo>
                <a:quadBezTo>
                  <a:pt x="2044598" y="0"/>
                  <a:pt x="2044598" y="0"/>
                </a:quadBezTo>
                <a:lnTo>
                  <a:pt x="2044598" y="3664012"/>
                </a:lnTo>
                <a:quadBezTo>
                  <a:pt x="2044598" y="3664012"/>
                  <a:pt x="2044598" y="3664012"/>
                </a:quadBezTo>
                <a:lnTo>
                  <a:pt x="0" y="3664012"/>
                </a:lnTo>
                <a:quadBezTo>
                  <a:pt x="0" y="3664012"/>
                  <a:pt x="0" y="3664012"/>
                </a:quadBezTo>
                <a:lnTo>
                  <a:pt x="0" y="0"/>
                </a:lnTo>
                <a:quadBezTo>
                  <a:pt x="0" y="0"/>
                  <a:pt x="0" y="0"/>
                </a:quadBezTo>
                <a:close/>
              </a:path>
            </a:pathLst>
          </a:custGeom>
          <a:solidFill>
            <a:srgbClr val="0055FF">
              <a:alpha val="0"/>
            </a:srgbClr>
          </a:solidFill>
          <a:ln w="28575">
            <a:solidFill>
              <a:srgbClr val="0055FF"/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249317" y="4714519"/>
            <a:ext cx="2065170" cy="0"/>
          </a:xfrm>
          <a:custGeom>
            <a:avLst/>
            <a:gdLst/>
            <a:ahLst/>
            <a:cxnLst/>
            <a:rect l="l" t="t" r="r" b="b"/>
            <a:pathLst>
              <a:path w="2065170">
                <a:moveTo>
                  <a:pt x="0" y="0"/>
                </a:moveTo>
                <a:moveTo>
                  <a:pt x="0" y="0"/>
                </a:moveTo>
                <a:lnTo>
                  <a:pt x="2065170" y="0"/>
                </a:lnTo>
              </a:path>
            </a:pathLst>
          </a:custGeom>
          <a:noFill/>
          <a:ln w="95250">
            <a:solidFill>
              <a:srgbClr val="0055FF"/>
            </a:solidFill>
            <a:prstDash val="solid"/>
            <a:headEnd type="none"/>
            <a:tailEnd type="none"/>
          </a:ln>
        </p:spPr>
      </p:sp>
      <p:sp>
        <p:nvSpPr>
          <p:cNvPr id="8" name="Shape 3"/>
          <p:cNvSpPr/>
          <p:nvPr/>
        </p:nvSpPr>
        <p:spPr>
          <a:xfrm>
            <a:off x="2453002" y="1093358"/>
            <a:ext cx="2044598" cy="3664012"/>
          </a:xfrm>
          <a:custGeom>
            <a:avLst/>
            <a:gdLst/>
            <a:ahLst/>
            <a:cxnLst/>
            <a:rect l="l" t="t" r="r" b="b"/>
            <a:pathLst>
              <a:path w="2044598" h="3664012">
                <a:moveTo>
                  <a:pt x="0" y="0"/>
                </a:moveTo>
                <a:moveTo>
                  <a:pt x="0" y="0"/>
                </a:moveTo>
                <a:lnTo>
                  <a:pt x="2044598" y="0"/>
                </a:lnTo>
                <a:quadBezTo>
                  <a:pt x="2044598" y="0"/>
                  <a:pt x="2044598" y="0"/>
                </a:quadBezTo>
                <a:lnTo>
                  <a:pt x="2044598" y="3664012"/>
                </a:lnTo>
                <a:quadBezTo>
                  <a:pt x="2044598" y="3664012"/>
                  <a:pt x="2044598" y="3664012"/>
                </a:quadBezTo>
                <a:lnTo>
                  <a:pt x="0" y="3664012"/>
                </a:lnTo>
                <a:quadBezTo>
                  <a:pt x="0" y="3664012"/>
                  <a:pt x="0" y="3664012"/>
                </a:quadBezTo>
                <a:lnTo>
                  <a:pt x="0" y="0"/>
                </a:lnTo>
                <a:quadBezTo>
                  <a:pt x="0" y="0"/>
                  <a:pt x="0" y="0"/>
                </a:quadBezTo>
                <a:close/>
              </a:path>
            </a:pathLst>
          </a:custGeom>
          <a:solidFill>
            <a:srgbClr val="0055FF">
              <a:alpha val="0"/>
            </a:srgbClr>
          </a:solidFill>
          <a:ln w="28575">
            <a:solidFill>
              <a:srgbClr val="5A85D9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2442716" y="4714519"/>
            <a:ext cx="2065170" cy="0"/>
          </a:xfrm>
          <a:custGeom>
            <a:avLst/>
            <a:gdLst/>
            <a:ahLst/>
            <a:cxnLst/>
            <a:rect l="l" t="t" r="r" b="b"/>
            <a:pathLst>
              <a:path w="2065170">
                <a:moveTo>
                  <a:pt x="0" y="0"/>
                </a:moveTo>
                <a:moveTo>
                  <a:pt x="0" y="0"/>
                </a:moveTo>
                <a:lnTo>
                  <a:pt x="2065170" y="0"/>
                </a:lnTo>
              </a:path>
            </a:pathLst>
          </a:custGeom>
          <a:noFill/>
          <a:ln w="95250">
            <a:solidFill>
              <a:srgbClr val="5A85D9"/>
            </a:solidFill>
            <a:prstDash val="solid"/>
            <a:headEnd type="none"/>
            <a:tailEnd type="none"/>
          </a:ln>
        </p:spPr>
      </p:sp>
      <p:sp>
        <p:nvSpPr>
          <p:cNvPr id="10" name="Shape 5"/>
          <p:cNvSpPr/>
          <p:nvPr/>
        </p:nvSpPr>
        <p:spPr>
          <a:xfrm>
            <a:off x="4646400" y="1093358"/>
            <a:ext cx="2044598" cy="3664012"/>
          </a:xfrm>
          <a:custGeom>
            <a:avLst/>
            <a:gdLst/>
            <a:ahLst/>
            <a:cxnLst/>
            <a:rect l="l" t="t" r="r" b="b"/>
            <a:pathLst>
              <a:path w="2044598" h="3664012">
                <a:moveTo>
                  <a:pt x="0" y="0"/>
                </a:moveTo>
                <a:moveTo>
                  <a:pt x="0" y="0"/>
                </a:moveTo>
                <a:lnTo>
                  <a:pt x="2044598" y="0"/>
                </a:lnTo>
                <a:quadBezTo>
                  <a:pt x="2044598" y="0"/>
                  <a:pt x="2044598" y="0"/>
                </a:quadBezTo>
                <a:lnTo>
                  <a:pt x="2044598" y="3664012"/>
                </a:lnTo>
                <a:quadBezTo>
                  <a:pt x="2044598" y="3664012"/>
                  <a:pt x="2044598" y="3664012"/>
                </a:quadBezTo>
                <a:lnTo>
                  <a:pt x="0" y="3664012"/>
                </a:lnTo>
                <a:quadBezTo>
                  <a:pt x="0" y="3664012"/>
                  <a:pt x="0" y="3664012"/>
                </a:quadBezTo>
                <a:lnTo>
                  <a:pt x="0" y="0"/>
                </a:lnTo>
                <a:quadBezTo>
                  <a:pt x="0" y="0"/>
                  <a:pt x="0" y="0"/>
                </a:quadBezTo>
                <a:close/>
              </a:path>
            </a:pathLst>
          </a:custGeom>
          <a:solidFill>
            <a:srgbClr val="0055FF">
              <a:alpha val="0"/>
            </a:srgbClr>
          </a:solidFill>
          <a:ln w="28575">
            <a:solidFill>
              <a:srgbClr val="0055FF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4636114" y="4714519"/>
            <a:ext cx="2065170" cy="0"/>
          </a:xfrm>
          <a:custGeom>
            <a:avLst/>
            <a:gdLst/>
            <a:ahLst/>
            <a:cxnLst/>
            <a:rect l="l" t="t" r="r" b="b"/>
            <a:pathLst>
              <a:path w="2065170">
                <a:moveTo>
                  <a:pt x="0" y="0"/>
                </a:moveTo>
                <a:moveTo>
                  <a:pt x="0" y="0"/>
                </a:moveTo>
                <a:lnTo>
                  <a:pt x="2065170" y="0"/>
                </a:lnTo>
              </a:path>
            </a:pathLst>
          </a:custGeom>
          <a:noFill/>
          <a:ln w="95250">
            <a:solidFill>
              <a:srgbClr val="0055FF"/>
            </a:solidFill>
            <a:prstDash val="solid"/>
            <a:headEnd type="none"/>
            <a:tailEnd type="none"/>
          </a:ln>
        </p:spPr>
      </p:sp>
      <p:sp>
        <p:nvSpPr>
          <p:cNvPr id="12" name="Shape 7"/>
          <p:cNvSpPr/>
          <p:nvPr/>
        </p:nvSpPr>
        <p:spPr>
          <a:xfrm>
            <a:off x="6839799" y="1093358"/>
            <a:ext cx="2044598" cy="3664012"/>
          </a:xfrm>
          <a:custGeom>
            <a:avLst/>
            <a:gdLst/>
            <a:ahLst/>
            <a:cxnLst/>
            <a:rect l="l" t="t" r="r" b="b"/>
            <a:pathLst>
              <a:path w="2044598" h="3664012">
                <a:moveTo>
                  <a:pt x="0" y="0"/>
                </a:moveTo>
                <a:moveTo>
                  <a:pt x="0" y="0"/>
                </a:moveTo>
                <a:lnTo>
                  <a:pt x="2044598" y="0"/>
                </a:lnTo>
                <a:quadBezTo>
                  <a:pt x="2044598" y="0"/>
                  <a:pt x="2044598" y="0"/>
                </a:quadBezTo>
                <a:lnTo>
                  <a:pt x="2044598" y="3664012"/>
                </a:lnTo>
                <a:quadBezTo>
                  <a:pt x="2044598" y="3664012"/>
                  <a:pt x="2044598" y="3664012"/>
                </a:quadBezTo>
                <a:lnTo>
                  <a:pt x="0" y="3664012"/>
                </a:lnTo>
                <a:quadBezTo>
                  <a:pt x="0" y="3664012"/>
                  <a:pt x="0" y="3664012"/>
                </a:quadBezTo>
                <a:lnTo>
                  <a:pt x="0" y="0"/>
                </a:lnTo>
                <a:quadBezTo>
                  <a:pt x="0" y="0"/>
                  <a:pt x="0" y="0"/>
                </a:quadBezTo>
                <a:close/>
              </a:path>
            </a:pathLst>
          </a:custGeom>
          <a:solidFill>
            <a:srgbClr val="0055FF">
              <a:alpha val="0"/>
            </a:srgbClr>
          </a:solidFill>
          <a:ln w="28575">
            <a:solidFill>
              <a:srgbClr val="5A85D9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829513" y="4714519"/>
            <a:ext cx="2065170" cy="0"/>
          </a:xfrm>
          <a:custGeom>
            <a:avLst/>
            <a:gdLst/>
            <a:ahLst/>
            <a:cxnLst/>
            <a:rect l="l" t="t" r="r" b="b"/>
            <a:pathLst>
              <a:path w="2065170">
                <a:moveTo>
                  <a:pt x="0" y="0"/>
                </a:moveTo>
                <a:moveTo>
                  <a:pt x="0" y="0"/>
                </a:moveTo>
                <a:lnTo>
                  <a:pt x="2065170" y="0"/>
                </a:lnTo>
              </a:path>
            </a:pathLst>
          </a:custGeom>
          <a:noFill/>
          <a:ln w="95250">
            <a:solidFill>
              <a:srgbClr val="5A85D9"/>
            </a:solidFill>
            <a:prstDash val="solid"/>
            <a:headEnd type="none"/>
            <a:tailEnd type="none"/>
          </a:ln>
        </p:spPr>
      </p:sp>
      <p:sp>
        <p:nvSpPr>
          <p:cNvPr id="14" name="Text 9"/>
          <p:cNvSpPr/>
          <p:nvPr/>
        </p:nvSpPr>
        <p:spPr>
          <a:xfrm>
            <a:off x="257473" y="2906821"/>
            <a:ext cx="2048858" cy="407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b="1" dirty="0">
                <a:solidFill>
                  <a:srgbClr val="005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Channel Distribution Patterns</a:t>
            </a:r>
            <a:endParaRPr lang="en-US" sz="1440" dirty="0"/>
          </a:p>
        </p:txBody>
      </p:sp>
      <p:sp>
        <p:nvSpPr>
          <p:cNvPr id="16" name="Text 10"/>
          <p:cNvSpPr/>
          <p:nvPr/>
        </p:nvSpPr>
        <p:spPr>
          <a:xfrm>
            <a:off x="257473" y="3314725"/>
            <a:ext cx="2048858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Swipe dominates daytime, online increases during late-night hours.</a:t>
            </a:r>
            <a:endParaRPr lang="en-US" sz="1440" dirty="0"/>
          </a:p>
        </p:txBody>
      </p:sp>
      <p:sp>
        <p:nvSpPr>
          <p:cNvPr id="17" name="Text 11"/>
          <p:cNvSpPr/>
          <p:nvPr/>
        </p:nvSpPr>
        <p:spPr>
          <a:xfrm>
            <a:off x="2450872" y="2906821"/>
            <a:ext cx="2048858" cy="407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b="1" dirty="0">
                <a:solidFill>
                  <a:srgbClr val="5A85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Hourly Transaction Rhythm</a:t>
            </a:r>
            <a:endParaRPr lang="en-US" sz="1440" dirty="0"/>
          </a:p>
        </p:txBody>
      </p:sp>
      <p:pic>
        <p:nvPicPr>
          <p:cNvPr id="18" name="Image 4" descr="https://oceandoc-ai.obs.ap-southeast-3.myhuaweicloud.com:443/image_1763287366519_Um1V0K.jpg"/>
          <p:cNvPicPr>
            <a:picLocks noChangeAspect="1"/>
          </p:cNvPicPr>
          <p:nvPr/>
        </p:nvPicPr>
        <p:blipFill>
          <a:blip r:embed="rId6"/>
          <a:srcRect t="10000" b="10000"/>
          <a:stretch/>
        </p:blipFill>
        <p:spPr>
          <a:xfrm>
            <a:off x="2462146" y="1093358"/>
            <a:ext cx="2026310" cy="162104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2450872" y="3314725"/>
            <a:ext cx="2048858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Peak activity during business hours, with distinct channel preferences throughout the day.</a:t>
            </a:r>
            <a:endParaRPr lang="en-US" sz="1440" dirty="0"/>
          </a:p>
        </p:txBody>
      </p:sp>
      <p:sp>
        <p:nvSpPr>
          <p:cNvPr id="20" name="Text 13"/>
          <p:cNvSpPr/>
          <p:nvPr/>
        </p:nvSpPr>
        <p:spPr>
          <a:xfrm>
            <a:off x="4644271" y="2906821"/>
            <a:ext cx="2048858" cy="407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b="1" dirty="0">
                <a:solidFill>
                  <a:srgbClr val="005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Fraud Risk Indicators</a:t>
            </a:r>
            <a:endParaRPr lang="en-US" sz="1440" dirty="0"/>
          </a:p>
        </p:txBody>
      </p:sp>
      <p:pic>
        <p:nvPicPr>
          <p:cNvPr id="21" name="Image 5" descr="https://oceandoc-ai.obs.ap-southeast-3.myhuaweicloud.com:443/image_1763287370017_2DeUbj.jpg"/>
          <p:cNvPicPr>
            <a:picLocks noChangeAspect="1"/>
          </p:cNvPicPr>
          <p:nvPr/>
        </p:nvPicPr>
        <p:blipFill>
          <a:blip r:embed="rId7"/>
          <a:srcRect t="10000" b="10000"/>
          <a:stretch/>
        </p:blipFill>
        <p:spPr>
          <a:xfrm>
            <a:off x="4655544" y="1093358"/>
            <a:ext cx="2026310" cy="162104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644271" y="3314725"/>
            <a:ext cx="2048858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Nighttime online spikes may indicate card testing, credential stuffing, or automated fraud attempts.</a:t>
            </a:r>
            <a:endParaRPr lang="en-US" sz="1440" dirty="0"/>
          </a:p>
        </p:txBody>
      </p:sp>
      <p:sp>
        <p:nvSpPr>
          <p:cNvPr id="23" name="Text 15"/>
          <p:cNvSpPr/>
          <p:nvPr/>
        </p:nvSpPr>
        <p:spPr>
          <a:xfrm>
            <a:off x="6837669" y="2906821"/>
            <a:ext cx="2048858" cy="407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b="1" dirty="0">
                <a:solidFill>
                  <a:srgbClr val="5A85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Channel Security Implications</a:t>
            </a:r>
            <a:endParaRPr lang="en-US" sz="1440" dirty="0"/>
          </a:p>
        </p:txBody>
      </p:sp>
      <p:pic>
        <p:nvPicPr>
          <p:cNvPr id="24" name="Image 6" descr="https://oceandoc-ai.obs.ap-southeast-3.myhuaweicloud.com:443/image_1763287372877_hlCPsQ.jpg"/>
          <p:cNvPicPr>
            <a:picLocks noChangeAspect="1"/>
          </p:cNvPicPr>
          <p:nvPr/>
        </p:nvPicPr>
        <p:blipFill>
          <a:blip r:embed="rId8"/>
          <a:srcRect t="10000" b="10000"/>
          <a:stretch/>
        </p:blipFill>
        <p:spPr>
          <a:xfrm>
            <a:off x="6848943" y="1093358"/>
            <a:ext cx="2026310" cy="162104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837669" y="3314725"/>
            <a:ext cx="2048858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Different risk profiles between physical and digital transactions require tailored monitoring strategies.</a:t>
            </a:r>
            <a:endParaRPr lang="en-US" sz="144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2C81F74-D624-48B2-86A3-005202EF1FA7}"/>
              </a:ext>
            </a:extLst>
          </p:cNvPr>
          <p:cNvPicPr/>
          <p:nvPr/>
        </p:nvPicPr>
        <p:blipFill>
          <a:blip r:embed="rId9"/>
          <a:stretch>
            <a:fillRect/>
          </a:stretch>
        </p:blipFill>
        <p:spPr>
          <a:xfrm>
            <a:off x="268747" y="1093358"/>
            <a:ext cx="2025168" cy="16210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5128" y="102771"/>
            <a:ext cx="7150733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02B7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Error types distribution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489" y="222075"/>
            <a:ext cx="346608" cy="34660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897" y="222075"/>
            <a:ext cx="346608" cy="34660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305" y="222075"/>
            <a:ext cx="346608" cy="346608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3256217" y="1255967"/>
            <a:ext cx="2631566" cy="2631566"/>
          </a:xfrm>
          <a:custGeom>
            <a:avLst/>
            <a:gdLst/>
            <a:ahLst/>
            <a:cxnLst/>
            <a:rect l="l" t="t" r="r" b="b"/>
            <a:pathLst>
              <a:path w="2631566" h="2631566">
                <a:moveTo>
                  <a:pt x="1315783" y="0"/>
                </a:moveTo>
                <a:moveTo>
                  <a:pt x="1315783" y="0"/>
                </a:moveTo>
                <a:cubicBezTo>
                  <a:pt x="2041983" y="0"/>
                  <a:pt x="2631566" y="589583"/>
                  <a:pt x="2631566" y="1315783"/>
                </a:cubicBezTo>
                <a:cubicBezTo>
                  <a:pt x="2631566" y="2041983"/>
                  <a:pt x="2041983" y="2631566"/>
                  <a:pt x="1315783" y="2631566"/>
                </a:cubicBezTo>
                <a:cubicBezTo>
                  <a:pt x="589583" y="2631566"/>
                  <a:pt x="0" y="2041983"/>
                  <a:pt x="0" y="1315783"/>
                </a:cubicBezTo>
                <a:cubicBezTo>
                  <a:pt x="0" y="589583"/>
                  <a:pt x="589583" y="0"/>
                  <a:pt x="1315783" y="0"/>
                </a:cubicBezTo>
                <a:close/>
              </a:path>
            </a:pathLst>
          </a:custGeom>
          <a:solidFill>
            <a:srgbClr val="0055FF">
              <a:alpha val="20000"/>
            </a:srgbClr>
          </a:solidFill>
          <a:ln/>
        </p:spPr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0602" y="1398682"/>
            <a:ext cx="2382795" cy="2346137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258693" y="939111"/>
            <a:ext cx="2833736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5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Most Common Errors</a:t>
            </a:r>
            <a:endParaRPr lang="en-US" sz="1440" dirty="0"/>
          </a:p>
        </p:txBody>
      </p:sp>
      <p:sp>
        <p:nvSpPr>
          <p:cNvPr id="9" name="Text 3"/>
          <p:cNvSpPr/>
          <p:nvPr/>
        </p:nvSpPr>
        <p:spPr>
          <a:xfrm>
            <a:off x="253537" y="1370708"/>
            <a:ext cx="2838893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Insufficient Balance leads with 852 cases, followed by Bad Card Number at 561.</a:t>
            </a:r>
            <a:endParaRPr lang="en-US" sz="1440" dirty="0"/>
          </a:p>
        </p:txBody>
      </p:sp>
      <p:sp>
        <p:nvSpPr>
          <p:cNvPr id="10" name="Text 4"/>
          <p:cNvSpPr/>
          <p:nvPr/>
        </p:nvSpPr>
        <p:spPr>
          <a:xfrm>
            <a:off x="6002866" y="939111"/>
            <a:ext cx="2874389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5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Technical Issues</a:t>
            </a:r>
            <a:endParaRPr lang="en-US" sz="1440" dirty="0"/>
          </a:p>
        </p:txBody>
      </p:sp>
      <p:sp>
        <p:nvSpPr>
          <p:cNvPr id="11" name="Text 5"/>
          <p:cNvSpPr/>
          <p:nvPr/>
        </p:nvSpPr>
        <p:spPr>
          <a:xfrm>
            <a:off x="6002866" y="1370686"/>
            <a:ext cx="2869730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Technical Glitch accounts for 245 errors, while combined errors appear in minimal numbers.</a:t>
            </a:r>
            <a:endParaRPr lang="en-US" sz="1440" dirty="0"/>
          </a:p>
        </p:txBody>
      </p:sp>
      <p:sp>
        <p:nvSpPr>
          <p:cNvPr id="12" name="Text 6"/>
          <p:cNvSpPr/>
          <p:nvPr/>
        </p:nvSpPr>
        <p:spPr>
          <a:xfrm>
            <a:off x="258693" y="3171161"/>
            <a:ext cx="2833736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5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Error Patterns</a:t>
            </a:r>
            <a:endParaRPr lang="en-US" sz="1440" dirty="0"/>
          </a:p>
        </p:txBody>
      </p:sp>
      <p:sp>
        <p:nvSpPr>
          <p:cNvPr id="13" name="Text 7"/>
          <p:cNvSpPr/>
          <p:nvPr/>
        </p:nvSpPr>
        <p:spPr>
          <a:xfrm>
            <a:off x="253537" y="3595443"/>
            <a:ext cx="2838893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Single errors dominate, with combined errors representing less than 1% of total issues.</a:t>
            </a:r>
            <a:endParaRPr lang="en-US" sz="1440" dirty="0"/>
          </a:p>
        </p:txBody>
      </p:sp>
      <p:sp>
        <p:nvSpPr>
          <p:cNvPr id="14" name="Text 8"/>
          <p:cNvSpPr/>
          <p:nvPr/>
        </p:nvSpPr>
        <p:spPr>
          <a:xfrm>
            <a:off x="6002866" y="3171139"/>
            <a:ext cx="2874389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5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Fraud Indicators</a:t>
            </a:r>
            <a:endParaRPr lang="en-US" sz="1440" dirty="0"/>
          </a:p>
        </p:txBody>
      </p:sp>
      <p:sp>
        <p:nvSpPr>
          <p:cNvPr id="15" name="Text 9"/>
          <p:cNvSpPr/>
          <p:nvPr/>
        </p:nvSpPr>
        <p:spPr>
          <a:xfrm>
            <a:off x="6002866" y="3595443"/>
            <a:ext cx="2869730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Multiple failed attempts before success flag potential fraud activity across transactions.</a:t>
            </a:r>
            <a:endParaRPr lang="en-US" sz="14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5128" y="102771"/>
            <a:ext cx="7150733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02B7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Fraud flag indicators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489" y="222075"/>
            <a:ext cx="346608" cy="34660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897" y="222075"/>
            <a:ext cx="346608" cy="34660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305" y="222075"/>
            <a:ext cx="346608" cy="346608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286" y="973100"/>
            <a:ext cx="4209837" cy="1701083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0877" y="973100"/>
            <a:ext cx="4209837" cy="1701083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3286" y="2853664"/>
            <a:ext cx="4209898" cy="1700784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0425" y="2853664"/>
            <a:ext cx="4209898" cy="1700784"/>
          </a:xfrm>
          <a:prstGeom prst="rect">
            <a:avLst/>
          </a:prstGeom>
        </p:spPr>
      </p:pic>
      <p:sp>
        <p:nvSpPr>
          <p:cNvPr id="10" name="Shape 1"/>
          <p:cNvSpPr/>
          <p:nvPr/>
        </p:nvSpPr>
        <p:spPr>
          <a:xfrm>
            <a:off x="3787325" y="1969030"/>
            <a:ext cx="1569350" cy="1569350"/>
          </a:xfrm>
          <a:custGeom>
            <a:avLst/>
            <a:gdLst/>
            <a:ahLst/>
            <a:cxnLst/>
            <a:rect l="l" t="t" r="r" b="b"/>
            <a:pathLst>
              <a:path w="1569350" h="1569350">
                <a:moveTo>
                  <a:pt x="784675" y="0"/>
                </a:moveTo>
                <a:moveTo>
                  <a:pt x="784675" y="0"/>
                </a:moveTo>
                <a:cubicBezTo>
                  <a:pt x="1217749" y="0"/>
                  <a:pt x="1569350" y="351601"/>
                  <a:pt x="1569350" y="784675"/>
                </a:cubicBezTo>
                <a:cubicBezTo>
                  <a:pt x="1569350" y="1217749"/>
                  <a:pt x="1217749" y="1569350"/>
                  <a:pt x="784675" y="1569350"/>
                </a:cubicBezTo>
                <a:cubicBezTo>
                  <a:pt x="351601" y="1569350"/>
                  <a:pt x="0" y="1217749"/>
                  <a:pt x="0" y="784675"/>
                </a:cubicBezTo>
                <a:cubicBezTo>
                  <a:pt x="0" y="351601"/>
                  <a:pt x="351601" y="0"/>
                  <a:pt x="784675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0055FF"/>
            </a:solidFill>
            <a:prstDash val="solid"/>
          </a:ln>
        </p:spPr>
      </p:sp>
      <p:sp>
        <p:nvSpPr>
          <p:cNvPr id="11" name="Text 2"/>
          <p:cNvSpPr/>
          <p:nvPr/>
        </p:nvSpPr>
        <p:spPr>
          <a:xfrm>
            <a:off x="366908" y="1083974"/>
            <a:ext cx="4002593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Multiple Failed Attempts</a:t>
            </a:r>
            <a:endParaRPr lang="en-US" sz="1440" dirty="0"/>
          </a:p>
        </p:txBody>
      </p:sp>
      <p:sp>
        <p:nvSpPr>
          <p:cNvPr id="12" name="Text 3"/>
          <p:cNvSpPr/>
          <p:nvPr/>
        </p:nvSpPr>
        <p:spPr>
          <a:xfrm>
            <a:off x="386728" y="1589172"/>
            <a:ext cx="3400597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Clients with high transaction failures show potential fraud patterns requiring immediate investigation.</a:t>
            </a:r>
            <a:endParaRPr lang="en-US" sz="1440" dirty="0"/>
          </a:p>
        </p:txBody>
      </p:sp>
      <p:sp>
        <p:nvSpPr>
          <p:cNvPr id="13" name="Text 4"/>
          <p:cNvSpPr/>
          <p:nvPr/>
        </p:nvSpPr>
        <p:spPr>
          <a:xfrm>
            <a:off x="4670877" y="1083974"/>
            <a:ext cx="4050449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Unusual State Activity</a:t>
            </a:r>
            <a:endParaRPr lang="en-US" sz="1440" dirty="0"/>
          </a:p>
        </p:txBody>
      </p:sp>
      <p:sp>
        <p:nvSpPr>
          <p:cNvPr id="14" name="Text 5"/>
          <p:cNvSpPr/>
          <p:nvPr/>
        </p:nvSpPr>
        <p:spPr>
          <a:xfrm>
            <a:off x="5239344" y="1589172"/>
            <a:ext cx="3481982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Same client transactions in different states within minutes indicates suspicious geographic movement patterns.</a:t>
            </a:r>
            <a:endParaRPr lang="en-US" sz="1440" dirty="0"/>
          </a:p>
        </p:txBody>
      </p:sp>
      <p:sp>
        <p:nvSpPr>
          <p:cNvPr id="15" name="Text 6"/>
          <p:cNvSpPr/>
          <p:nvPr/>
        </p:nvSpPr>
        <p:spPr>
          <a:xfrm>
            <a:off x="366908" y="2954248"/>
            <a:ext cx="3400597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Merchant Decline Rates</a:t>
            </a:r>
            <a:endParaRPr lang="en-US" sz="1440" dirty="0"/>
          </a:p>
        </p:txBody>
      </p:sp>
      <p:sp>
        <p:nvSpPr>
          <p:cNvPr id="16" name="Text 7"/>
          <p:cNvSpPr/>
          <p:nvPr/>
        </p:nvSpPr>
        <p:spPr>
          <a:xfrm>
            <a:off x="386728" y="3414018"/>
            <a:ext cx="3400597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Merchants with high decline percentages may be processing fraudulent transactions or experiencing technical issues.</a:t>
            </a:r>
            <a:endParaRPr lang="en-US" sz="1440" dirty="0"/>
          </a:p>
        </p:txBody>
      </p:sp>
      <p:sp>
        <p:nvSpPr>
          <p:cNvPr id="17" name="Text 8"/>
          <p:cNvSpPr/>
          <p:nvPr/>
        </p:nvSpPr>
        <p:spPr>
          <a:xfrm>
            <a:off x="5356675" y="2954248"/>
            <a:ext cx="3364651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Nighttime Online Spikes</a:t>
            </a:r>
            <a:endParaRPr lang="en-US" sz="1440" dirty="0"/>
          </a:p>
        </p:txBody>
      </p:sp>
      <p:sp>
        <p:nvSpPr>
          <p:cNvPr id="18" name="Text 9"/>
          <p:cNvSpPr/>
          <p:nvPr/>
        </p:nvSpPr>
        <p:spPr>
          <a:xfrm>
            <a:off x="5477745" y="3414018"/>
            <a:ext cx="3243581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Increased online activity during late hours suggests potential automated fraud attempts or card testing.</a:t>
            </a:r>
            <a:endParaRPr lang="en-US" sz="144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04658" y="2386364"/>
            <a:ext cx="734683" cy="7346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70" y="1959269"/>
            <a:ext cx="5221112" cy="55778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005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Merchant and Client Insights</a:t>
            </a:r>
            <a:endParaRPr lang="en-US" sz="1440" dirty="0"/>
          </a:p>
        </p:txBody>
      </p:sp>
      <p:sp>
        <p:nvSpPr>
          <p:cNvPr id="4" name="Text 1"/>
          <p:cNvSpPr/>
          <p:nvPr/>
        </p:nvSpPr>
        <p:spPr>
          <a:xfrm>
            <a:off x="345154" y="742055"/>
            <a:ext cx="1356643" cy="92354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888" b="1" dirty="0">
                <a:solidFill>
                  <a:srgbClr val="002B7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5128" y="102771"/>
            <a:ext cx="7150733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02B7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 decline merchants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489" y="222075"/>
            <a:ext cx="346608" cy="34660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897" y="222075"/>
            <a:ext cx="346608" cy="34660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305" y="222075"/>
            <a:ext cx="346608" cy="34660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49806" y="1111567"/>
            <a:ext cx="1994394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5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Top Decline Merchants</a:t>
            </a:r>
            <a:endParaRPr lang="en-US" sz="1440" dirty="0"/>
          </a:p>
        </p:txBody>
      </p:sp>
      <p:sp>
        <p:nvSpPr>
          <p:cNvPr id="8" name="Text 2"/>
          <p:cNvSpPr/>
          <p:nvPr/>
        </p:nvSpPr>
        <p:spPr>
          <a:xfrm>
            <a:off x="449806" y="1474916"/>
            <a:ext cx="1994394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Five merchants show unusually high decline rates, indicating potential fraud or technical issues.</a:t>
            </a:r>
            <a:endParaRPr lang="en-US" sz="1440" dirty="0"/>
          </a:p>
        </p:txBody>
      </p:sp>
      <p:sp>
        <p:nvSpPr>
          <p:cNvPr id="11" name="Text 4"/>
          <p:cNvSpPr/>
          <p:nvPr/>
        </p:nvSpPr>
        <p:spPr>
          <a:xfrm>
            <a:off x="2510134" y="3368922"/>
            <a:ext cx="1994394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Highest decline count at 1,471 transactions, significantly above average and requiring immediate investigation.</a:t>
            </a:r>
            <a:endParaRPr lang="en-US" sz="1440" dirty="0"/>
          </a:p>
        </p:txBody>
      </p:sp>
      <p:sp>
        <p:nvSpPr>
          <p:cNvPr id="14" name="Text 6"/>
          <p:cNvSpPr/>
          <p:nvPr/>
        </p:nvSpPr>
        <p:spPr>
          <a:xfrm>
            <a:off x="4660494" y="1595321"/>
            <a:ext cx="1994394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Insufficient balance and bad card numbers represent majority of merchant declines across platform.</a:t>
            </a:r>
            <a:endParaRPr lang="en-US" sz="1440" dirty="0"/>
          </a:p>
        </p:txBody>
      </p:sp>
      <p:sp>
        <p:nvSpPr>
          <p:cNvPr id="15" name="Text 7"/>
          <p:cNvSpPr/>
          <p:nvPr/>
        </p:nvSpPr>
        <p:spPr>
          <a:xfrm>
            <a:off x="6699801" y="2978669"/>
            <a:ext cx="1994394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5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Geographic Patterns</a:t>
            </a:r>
            <a:endParaRPr lang="en-US" sz="1440" dirty="0"/>
          </a:p>
        </p:txBody>
      </p:sp>
      <p:pic>
        <p:nvPicPr>
          <p:cNvPr id="16" name="Image 6" descr="https://oceandoc-ai.obs.ap-southeast-3.myhuaweicloud.com:443/image_1763287379238_QRHKD1.jpg"/>
          <p:cNvPicPr>
            <a:picLocks noChangeAspect="1"/>
          </p:cNvPicPr>
          <p:nvPr/>
        </p:nvPicPr>
        <p:blipFill rotWithShape="1">
          <a:blip r:embed="rId6"/>
          <a:srcRect t="28220" b="10000"/>
          <a:stretch/>
        </p:blipFill>
        <p:spPr>
          <a:xfrm>
            <a:off x="4660494" y="3022970"/>
            <a:ext cx="1882615" cy="1232063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6699801" y="3368922"/>
            <a:ext cx="1994394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Certain states show concentrated decline activity, suggesting regional fraud attempts or processing issues.</a:t>
            </a:r>
            <a:endParaRPr lang="en-US" sz="1440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BF4B6ED-FEA6-4371-AE82-E25F0DD468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4010337"/>
              </p:ext>
            </p:extLst>
          </p:nvPr>
        </p:nvGraphicFramePr>
        <p:xfrm>
          <a:off x="2600893" y="963396"/>
          <a:ext cx="1624265" cy="1743583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1624265">
                  <a:extLst>
                    <a:ext uri="{9D8B030D-6E8A-4147-A177-3AD203B41FA5}">
                      <a16:colId xmlns:a16="http://schemas.microsoft.com/office/drawing/2014/main" val="2191309675"/>
                    </a:ext>
                  </a:extLst>
                </a:gridCol>
              </a:tblGrid>
              <a:tr h="155575">
                <a:tc>
                  <a:txBody>
                    <a:bodyPr/>
                    <a:lstStyle/>
                    <a:p>
                      <a:pPr marL="0" marR="0" latinLnBrk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 dirty="0">
                          <a:effectLst/>
                        </a:rPr>
                        <a:t>Merchant_ID  Decline Count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12583523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marL="0" marR="0" latinLnBrk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 b="0" dirty="0">
                          <a:effectLst/>
                        </a:rPr>
                        <a:t>27092                      1471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00035886"/>
                  </a:ext>
                </a:extLst>
              </a:tr>
              <a:tr h="155575">
                <a:tc>
                  <a:txBody>
                    <a:bodyPr/>
                    <a:lstStyle/>
                    <a:p>
                      <a:pPr marL="0" marR="0" latinLnBrk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 b="0" dirty="0">
                          <a:effectLst/>
                        </a:rPr>
                        <a:t>59935                       880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9410733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marL="0" marR="0" latinLnBrk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 b="0" dirty="0">
                          <a:effectLst/>
                        </a:rPr>
                        <a:t>61195                       672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9639586"/>
                  </a:ext>
                </a:extLst>
              </a:tr>
              <a:tr h="155575">
                <a:tc>
                  <a:txBody>
                    <a:bodyPr/>
                    <a:lstStyle/>
                    <a:p>
                      <a:pPr marL="0" marR="0" latinLnBrk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 b="0" dirty="0">
                          <a:effectLst/>
                        </a:rPr>
                        <a:t>39021                       582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39620752"/>
                  </a:ext>
                </a:extLst>
              </a:tr>
              <a:tr h="155575">
                <a:tc>
                  <a:txBody>
                    <a:bodyPr/>
                    <a:lstStyle/>
                    <a:p>
                      <a:pPr marL="0" marR="0" latinLnBrk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 b="0" dirty="0">
                          <a:effectLst/>
                        </a:rPr>
                        <a:t>43293                       493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63889804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marL="0" marR="0" latinLnBrk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 b="0" dirty="0">
                          <a:effectLst/>
                        </a:rPr>
                        <a:t>60569                       487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41610721"/>
                  </a:ext>
                </a:extLst>
              </a:tr>
              <a:tr h="155575">
                <a:tc>
                  <a:txBody>
                    <a:bodyPr/>
                    <a:lstStyle/>
                    <a:p>
                      <a:pPr marL="0" marR="0" latinLnBrk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 b="0" dirty="0">
                          <a:effectLst/>
                        </a:rPr>
                        <a:t>22204                       469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14443823"/>
                  </a:ext>
                </a:extLst>
              </a:tr>
              <a:tr h="155575">
                <a:tc>
                  <a:txBody>
                    <a:bodyPr/>
                    <a:lstStyle/>
                    <a:p>
                      <a:pPr marL="0" marR="0" latinLnBrk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 b="0" dirty="0">
                          <a:effectLst/>
                        </a:rPr>
                        <a:t>26810                       287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94733368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marL="0" marR="0" latinLnBrk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 b="0" dirty="0">
                          <a:effectLst/>
                        </a:rPr>
                        <a:t>50783                       269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83453538"/>
                  </a:ext>
                </a:extLst>
              </a:tr>
              <a:tr h="155575">
                <a:tc>
                  <a:txBody>
                    <a:bodyPr/>
                    <a:lstStyle/>
                    <a:p>
                      <a:pPr marL="0" marR="0" latinLnBrk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 b="0" dirty="0">
                          <a:effectLst/>
                        </a:rPr>
                        <a:t>20561                       249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35360463"/>
                  </a:ext>
                </a:extLst>
              </a:tr>
            </a:tbl>
          </a:graphicData>
        </a:graphic>
      </p:graphicFrame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908CEA0D-E664-4E07-B4E0-615FCD9C1966}"/>
              </a:ext>
            </a:extLst>
          </p:cNvPr>
          <p:cNvSpPr/>
          <p:nvPr/>
        </p:nvSpPr>
        <p:spPr>
          <a:xfrm>
            <a:off x="409897" y="3116686"/>
            <a:ext cx="1994393" cy="1138347"/>
          </a:xfrm>
          <a:prstGeom prst="flowChartConnector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innerShdw blurRad="114300">
              <a:prstClr val="black"/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rgbClr val="005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Merchant ID 27092</a:t>
            </a:r>
            <a:endParaRPr lang="en-US" sz="2000" dirty="0"/>
          </a:p>
          <a:p>
            <a:pPr algn="ctr"/>
            <a:endParaRPr lang="en-US" dirty="0"/>
          </a:p>
        </p:txBody>
      </p: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52FD001D-BC25-4A7C-908A-C6F0CC040E73}"/>
              </a:ext>
            </a:extLst>
          </p:cNvPr>
          <p:cNvCxnSpPr/>
          <p:nvPr/>
        </p:nvCxnSpPr>
        <p:spPr>
          <a:xfrm>
            <a:off x="1986455" y="3190941"/>
            <a:ext cx="614438" cy="245942"/>
          </a:xfrm>
          <a:prstGeom prst="curvedConnector3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DC392F95-F22D-440D-885D-8D233FDA25C7}"/>
              </a:ext>
            </a:extLst>
          </p:cNvPr>
          <p:cNvSpPr/>
          <p:nvPr/>
        </p:nvSpPr>
        <p:spPr>
          <a:xfrm>
            <a:off x="6433563" y="743477"/>
            <a:ext cx="1994393" cy="1138347"/>
          </a:xfrm>
          <a:prstGeom prst="flowChartConnector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innerShdw blurRad="114300">
              <a:prstClr val="black"/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800" b="1" dirty="0">
                <a:solidFill>
                  <a:srgbClr val="005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Common Decline Reasons</a:t>
            </a:r>
            <a:endParaRPr lang="en-US" sz="2000" dirty="0"/>
          </a:p>
        </p:txBody>
      </p: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0199C133-FDE7-404E-B030-B03F8421F217}"/>
              </a:ext>
            </a:extLst>
          </p:cNvPr>
          <p:cNvCxnSpPr>
            <a:cxnSpLocks/>
          </p:cNvCxnSpPr>
          <p:nvPr/>
        </p:nvCxnSpPr>
        <p:spPr>
          <a:xfrm rot="10800000" flipV="1">
            <a:off x="5744955" y="1358599"/>
            <a:ext cx="688609" cy="306518"/>
          </a:xfrm>
          <a:prstGeom prst="curvedConnector3">
            <a:avLst>
              <a:gd name="adj1" fmla="val 50000"/>
            </a:avLst>
          </a:prstGeom>
          <a:ln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5128" y="102771"/>
            <a:ext cx="7150733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02B7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Frequent decline clients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489" y="222075"/>
            <a:ext cx="346608" cy="34660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897" y="222075"/>
            <a:ext cx="346608" cy="34660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305" y="222075"/>
            <a:ext cx="346608" cy="346608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9467" y="706954"/>
            <a:ext cx="3105066" cy="4140088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9467" y="706954"/>
            <a:ext cx="3105066" cy="4140088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3594480" y="3191791"/>
            <a:ext cx="724757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1440" dirty="0"/>
          </a:p>
        </p:txBody>
      </p:sp>
      <p:sp>
        <p:nvSpPr>
          <p:cNvPr id="9" name="Text 2"/>
          <p:cNvSpPr/>
          <p:nvPr/>
        </p:nvSpPr>
        <p:spPr>
          <a:xfrm>
            <a:off x="3433566" y="1869765"/>
            <a:ext cx="724757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  <p:sp>
        <p:nvSpPr>
          <p:cNvPr id="10" name="Text 3"/>
          <p:cNvSpPr/>
          <p:nvPr/>
        </p:nvSpPr>
        <p:spPr>
          <a:xfrm>
            <a:off x="4738044" y="1722535"/>
            <a:ext cx="724757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  <p:sp>
        <p:nvSpPr>
          <p:cNvPr id="11" name="Text 4"/>
          <p:cNvSpPr/>
          <p:nvPr/>
        </p:nvSpPr>
        <p:spPr>
          <a:xfrm>
            <a:off x="4917108" y="3027091"/>
            <a:ext cx="724757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  <p:pic>
        <p:nvPicPr>
          <p:cNvPr id="12" name="Image 5" descr="https://oceandoc-ai.obs.ap-southeast-3.myhuaweicloud.com:443/image_1763287368977_T2kFX0.jp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044596" y="2304322"/>
            <a:ext cx="947929" cy="947929"/>
          </a:xfrm>
          <a:prstGeom prst="ellipse">
            <a:avLst/>
          </a:prstGeom>
        </p:spPr>
      </p:pic>
      <p:sp>
        <p:nvSpPr>
          <p:cNvPr id="13" name="Text 5"/>
          <p:cNvSpPr/>
          <p:nvPr/>
        </p:nvSpPr>
        <p:spPr>
          <a:xfrm>
            <a:off x="258693" y="939111"/>
            <a:ext cx="2833736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5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Top Decline Clients</a:t>
            </a:r>
            <a:endParaRPr lang="en-US" sz="1440" dirty="0"/>
          </a:p>
        </p:txBody>
      </p:sp>
      <p:sp>
        <p:nvSpPr>
          <p:cNvPr id="14" name="Text 6"/>
          <p:cNvSpPr/>
          <p:nvPr/>
        </p:nvSpPr>
        <p:spPr>
          <a:xfrm>
            <a:off x="253537" y="1370708"/>
            <a:ext cx="2838893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Client 954 leads with 240 declines, followed by client 1888 with 159 declines.</a:t>
            </a:r>
            <a:endParaRPr lang="en-US" sz="1440" dirty="0"/>
          </a:p>
        </p:txBody>
      </p:sp>
      <p:sp>
        <p:nvSpPr>
          <p:cNvPr id="15" name="Text 7"/>
          <p:cNvSpPr/>
          <p:nvPr/>
        </p:nvSpPr>
        <p:spPr>
          <a:xfrm>
            <a:off x="6002866" y="939111"/>
            <a:ext cx="2874389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5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Insufficient Balance Issues</a:t>
            </a:r>
            <a:endParaRPr lang="en-US" sz="1440" dirty="0"/>
          </a:p>
        </p:txBody>
      </p:sp>
      <p:sp>
        <p:nvSpPr>
          <p:cNvPr id="16" name="Text 8"/>
          <p:cNvSpPr/>
          <p:nvPr/>
        </p:nvSpPr>
        <p:spPr>
          <a:xfrm>
            <a:off x="6002866" y="1370686"/>
            <a:ext cx="2869730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Frequent insufficient balance errors indicate potential cash flow problems or fraud attempts.</a:t>
            </a:r>
            <a:endParaRPr lang="en-US" sz="1440" dirty="0"/>
          </a:p>
        </p:txBody>
      </p:sp>
      <p:sp>
        <p:nvSpPr>
          <p:cNvPr id="17" name="Text 9"/>
          <p:cNvSpPr/>
          <p:nvPr/>
        </p:nvSpPr>
        <p:spPr>
          <a:xfrm>
            <a:off x="258693" y="3171161"/>
            <a:ext cx="2833736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5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Monitoring Recommendations</a:t>
            </a:r>
            <a:endParaRPr lang="en-US" sz="1440" dirty="0"/>
          </a:p>
        </p:txBody>
      </p:sp>
      <p:sp>
        <p:nvSpPr>
          <p:cNvPr id="18" name="Text 10"/>
          <p:cNvSpPr/>
          <p:nvPr/>
        </p:nvSpPr>
        <p:spPr>
          <a:xfrm>
            <a:off x="253537" y="3595443"/>
            <a:ext cx="2838893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 enhanced verification for high-decline clients and establish automated monitoring systems.</a:t>
            </a:r>
            <a:endParaRPr lang="en-US" sz="1440" dirty="0"/>
          </a:p>
        </p:txBody>
      </p:sp>
      <p:sp>
        <p:nvSpPr>
          <p:cNvPr id="19" name="Text 11"/>
          <p:cNvSpPr/>
          <p:nvPr/>
        </p:nvSpPr>
        <p:spPr>
          <a:xfrm>
            <a:off x="6002866" y="3171139"/>
            <a:ext cx="2874389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5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Fraud Indicators</a:t>
            </a:r>
            <a:endParaRPr lang="en-US" sz="1440" dirty="0"/>
          </a:p>
        </p:txBody>
      </p:sp>
      <p:sp>
        <p:nvSpPr>
          <p:cNvPr id="20" name="Text 12"/>
          <p:cNvSpPr/>
          <p:nvPr/>
        </p:nvSpPr>
        <p:spPr>
          <a:xfrm>
            <a:off x="6002866" y="3595443"/>
            <a:ext cx="2869730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Multiple failed attempts before success flag potential fraudulent activity requiring investigation.</a:t>
            </a:r>
            <a:endParaRPr lang="en-US" sz="14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5128" y="102771"/>
            <a:ext cx="7150733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02B7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Cross-state spending patterns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489" y="222075"/>
            <a:ext cx="346608" cy="34660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897" y="222075"/>
            <a:ext cx="346608" cy="34660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305" y="222075"/>
            <a:ext cx="346608" cy="346608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390100" y="1187692"/>
            <a:ext cx="0" cy="3660054"/>
          </a:xfrm>
          <a:custGeom>
            <a:avLst/>
            <a:gdLst/>
            <a:ahLst/>
            <a:cxnLst/>
            <a:rect l="l" t="t" r="r" b="b"/>
            <a:pathLst>
              <a:path h="3660054">
                <a:moveTo>
                  <a:pt x="0" y="0"/>
                </a:moveTo>
                <a:moveTo>
                  <a:pt x="0" y="0"/>
                </a:moveTo>
                <a:lnTo>
                  <a:pt x="0" y="3660054"/>
                </a:lnTo>
              </a:path>
            </a:pathLst>
          </a:custGeom>
          <a:noFill/>
          <a:ln w="19736">
            <a:solidFill>
              <a:srgbClr val="0055FF"/>
            </a:solidFill>
            <a:prstDash val="solid"/>
            <a:headEnd type="none"/>
            <a:tailEnd type="none"/>
          </a:ln>
        </p:spPr>
      </p:sp>
      <p:sp>
        <p:nvSpPr>
          <p:cNvPr id="7" name="Shape 2"/>
          <p:cNvSpPr/>
          <p:nvPr/>
        </p:nvSpPr>
        <p:spPr>
          <a:xfrm>
            <a:off x="304842" y="1096096"/>
            <a:ext cx="189462" cy="189462"/>
          </a:xfrm>
          <a:custGeom>
            <a:avLst/>
            <a:gdLst/>
            <a:ahLst/>
            <a:cxnLst/>
            <a:rect l="l" t="t" r="r" b="b"/>
            <a:pathLst>
              <a:path w="189462" h="189462">
                <a:moveTo>
                  <a:pt x="94731" y="0"/>
                </a:moveTo>
                <a:moveTo>
                  <a:pt x="94731" y="0"/>
                </a:moveTo>
                <a:cubicBezTo>
                  <a:pt x="147014" y="0"/>
                  <a:pt x="189462" y="42448"/>
                  <a:pt x="189462" y="94731"/>
                </a:cubicBezTo>
                <a:cubicBezTo>
                  <a:pt x="189462" y="147014"/>
                  <a:pt x="147014" y="189462"/>
                  <a:pt x="94731" y="189462"/>
                </a:cubicBezTo>
                <a:cubicBezTo>
                  <a:pt x="42448" y="189462"/>
                  <a:pt x="0" y="147014"/>
                  <a:pt x="0" y="94731"/>
                </a:cubicBezTo>
                <a:cubicBezTo>
                  <a:pt x="0" y="42448"/>
                  <a:pt x="42448" y="0"/>
                  <a:pt x="94731" y="0"/>
                </a:cubicBezTo>
                <a:close/>
              </a:path>
            </a:pathLst>
          </a:custGeom>
          <a:solidFill>
            <a:srgbClr val="0055FF"/>
          </a:solidFill>
          <a:ln/>
        </p:spPr>
      </p:sp>
      <p:sp>
        <p:nvSpPr>
          <p:cNvPr id="8" name="Shape 3"/>
          <p:cNvSpPr/>
          <p:nvPr/>
        </p:nvSpPr>
        <p:spPr>
          <a:xfrm>
            <a:off x="2504386" y="1187692"/>
            <a:ext cx="0" cy="3660054"/>
          </a:xfrm>
          <a:custGeom>
            <a:avLst/>
            <a:gdLst/>
            <a:ahLst/>
            <a:cxnLst/>
            <a:rect l="l" t="t" r="r" b="b"/>
            <a:pathLst>
              <a:path h="3660054">
                <a:moveTo>
                  <a:pt x="0" y="0"/>
                </a:moveTo>
                <a:moveTo>
                  <a:pt x="0" y="0"/>
                </a:moveTo>
                <a:lnTo>
                  <a:pt x="0" y="3660054"/>
                </a:lnTo>
              </a:path>
            </a:pathLst>
          </a:custGeom>
          <a:noFill/>
          <a:ln w="19736">
            <a:solidFill>
              <a:srgbClr val="5A85D9"/>
            </a:solidFill>
            <a:prstDash val="solid"/>
            <a:headEnd type="none"/>
            <a:tailEnd type="none"/>
          </a:ln>
        </p:spPr>
      </p:sp>
      <p:sp>
        <p:nvSpPr>
          <p:cNvPr id="9" name="Shape 4"/>
          <p:cNvSpPr/>
          <p:nvPr/>
        </p:nvSpPr>
        <p:spPr>
          <a:xfrm>
            <a:off x="2409655" y="1096096"/>
            <a:ext cx="189462" cy="189462"/>
          </a:xfrm>
          <a:custGeom>
            <a:avLst/>
            <a:gdLst/>
            <a:ahLst/>
            <a:cxnLst/>
            <a:rect l="l" t="t" r="r" b="b"/>
            <a:pathLst>
              <a:path w="189462" h="189462">
                <a:moveTo>
                  <a:pt x="94731" y="0"/>
                </a:moveTo>
                <a:moveTo>
                  <a:pt x="94731" y="0"/>
                </a:moveTo>
                <a:cubicBezTo>
                  <a:pt x="147014" y="0"/>
                  <a:pt x="189462" y="42448"/>
                  <a:pt x="189462" y="94731"/>
                </a:cubicBezTo>
                <a:cubicBezTo>
                  <a:pt x="189462" y="147014"/>
                  <a:pt x="147014" y="189462"/>
                  <a:pt x="94731" y="189462"/>
                </a:cubicBezTo>
                <a:cubicBezTo>
                  <a:pt x="42448" y="189462"/>
                  <a:pt x="0" y="147014"/>
                  <a:pt x="0" y="94731"/>
                </a:cubicBezTo>
                <a:cubicBezTo>
                  <a:pt x="0" y="42448"/>
                  <a:pt x="42448" y="0"/>
                  <a:pt x="94731" y="0"/>
                </a:cubicBezTo>
                <a:close/>
              </a:path>
            </a:pathLst>
          </a:custGeom>
          <a:solidFill>
            <a:srgbClr val="5A85D9"/>
          </a:solidFill>
          <a:ln/>
        </p:spPr>
      </p:sp>
      <p:sp>
        <p:nvSpPr>
          <p:cNvPr id="10" name="Shape 5"/>
          <p:cNvSpPr/>
          <p:nvPr/>
        </p:nvSpPr>
        <p:spPr>
          <a:xfrm>
            <a:off x="4661050" y="1187692"/>
            <a:ext cx="0" cy="3660054"/>
          </a:xfrm>
          <a:custGeom>
            <a:avLst/>
            <a:gdLst/>
            <a:ahLst/>
            <a:cxnLst/>
            <a:rect l="l" t="t" r="r" b="b"/>
            <a:pathLst>
              <a:path h="3660054">
                <a:moveTo>
                  <a:pt x="0" y="0"/>
                </a:moveTo>
                <a:moveTo>
                  <a:pt x="0" y="0"/>
                </a:moveTo>
                <a:lnTo>
                  <a:pt x="0" y="3660054"/>
                </a:lnTo>
              </a:path>
            </a:pathLst>
          </a:custGeom>
          <a:noFill/>
          <a:ln w="19736">
            <a:solidFill>
              <a:srgbClr val="0055FF"/>
            </a:solidFill>
            <a:prstDash val="solid"/>
            <a:headEnd type="none"/>
            <a:tailEnd type="none"/>
          </a:ln>
        </p:spPr>
      </p:sp>
      <p:sp>
        <p:nvSpPr>
          <p:cNvPr id="11" name="Shape 6"/>
          <p:cNvSpPr/>
          <p:nvPr/>
        </p:nvSpPr>
        <p:spPr>
          <a:xfrm>
            <a:off x="4566319" y="1096096"/>
            <a:ext cx="189462" cy="189462"/>
          </a:xfrm>
          <a:custGeom>
            <a:avLst/>
            <a:gdLst/>
            <a:ahLst/>
            <a:cxnLst/>
            <a:rect l="l" t="t" r="r" b="b"/>
            <a:pathLst>
              <a:path w="189462" h="189462">
                <a:moveTo>
                  <a:pt x="94731" y="0"/>
                </a:moveTo>
                <a:moveTo>
                  <a:pt x="94731" y="0"/>
                </a:moveTo>
                <a:cubicBezTo>
                  <a:pt x="147014" y="0"/>
                  <a:pt x="189462" y="42448"/>
                  <a:pt x="189462" y="94731"/>
                </a:cubicBezTo>
                <a:cubicBezTo>
                  <a:pt x="189462" y="147014"/>
                  <a:pt x="147014" y="189462"/>
                  <a:pt x="94731" y="189462"/>
                </a:cubicBezTo>
                <a:cubicBezTo>
                  <a:pt x="42448" y="189462"/>
                  <a:pt x="0" y="147014"/>
                  <a:pt x="0" y="94731"/>
                </a:cubicBezTo>
                <a:cubicBezTo>
                  <a:pt x="0" y="42448"/>
                  <a:pt x="42448" y="0"/>
                  <a:pt x="94731" y="0"/>
                </a:cubicBezTo>
                <a:close/>
              </a:path>
            </a:pathLst>
          </a:custGeom>
          <a:solidFill>
            <a:srgbClr val="0055FF"/>
          </a:solidFill>
          <a:ln/>
        </p:spPr>
      </p:sp>
      <p:sp>
        <p:nvSpPr>
          <p:cNvPr id="12" name="Shape 7"/>
          <p:cNvSpPr/>
          <p:nvPr/>
        </p:nvSpPr>
        <p:spPr>
          <a:xfrm>
            <a:off x="6828200" y="1187692"/>
            <a:ext cx="0" cy="3660054"/>
          </a:xfrm>
          <a:custGeom>
            <a:avLst/>
            <a:gdLst/>
            <a:ahLst/>
            <a:cxnLst/>
            <a:rect l="l" t="t" r="r" b="b"/>
            <a:pathLst>
              <a:path h="3660054">
                <a:moveTo>
                  <a:pt x="0" y="0"/>
                </a:moveTo>
                <a:moveTo>
                  <a:pt x="0" y="0"/>
                </a:moveTo>
                <a:lnTo>
                  <a:pt x="0" y="3660054"/>
                </a:lnTo>
              </a:path>
            </a:pathLst>
          </a:custGeom>
          <a:noFill/>
          <a:ln w="19736">
            <a:solidFill>
              <a:srgbClr val="5A85D9"/>
            </a:solidFill>
            <a:prstDash val="solid"/>
            <a:headEnd type="none"/>
            <a:tailEnd type="none"/>
          </a:ln>
        </p:spPr>
      </p:sp>
      <p:sp>
        <p:nvSpPr>
          <p:cNvPr id="13" name="Shape 8"/>
          <p:cNvSpPr/>
          <p:nvPr/>
        </p:nvSpPr>
        <p:spPr>
          <a:xfrm>
            <a:off x="6733469" y="1096096"/>
            <a:ext cx="189462" cy="189462"/>
          </a:xfrm>
          <a:custGeom>
            <a:avLst/>
            <a:gdLst/>
            <a:ahLst/>
            <a:cxnLst/>
            <a:rect l="l" t="t" r="r" b="b"/>
            <a:pathLst>
              <a:path w="189462" h="189462">
                <a:moveTo>
                  <a:pt x="94731" y="0"/>
                </a:moveTo>
                <a:moveTo>
                  <a:pt x="94731" y="0"/>
                </a:moveTo>
                <a:cubicBezTo>
                  <a:pt x="147014" y="0"/>
                  <a:pt x="189462" y="42448"/>
                  <a:pt x="189462" y="94731"/>
                </a:cubicBezTo>
                <a:cubicBezTo>
                  <a:pt x="189462" y="147014"/>
                  <a:pt x="147014" y="189462"/>
                  <a:pt x="94731" y="189462"/>
                </a:cubicBezTo>
                <a:cubicBezTo>
                  <a:pt x="42448" y="189462"/>
                  <a:pt x="0" y="147014"/>
                  <a:pt x="0" y="94731"/>
                </a:cubicBezTo>
                <a:cubicBezTo>
                  <a:pt x="0" y="42448"/>
                  <a:pt x="42448" y="0"/>
                  <a:pt x="94731" y="0"/>
                </a:cubicBezTo>
                <a:close/>
              </a:path>
            </a:pathLst>
          </a:custGeom>
          <a:solidFill>
            <a:srgbClr val="5A85D9"/>
          </a:solidFill>
          <a:ln/>
        </p:spPr>
      </p:sp>
      <p:sp>
        <p:nvSpPr>
          <p:cNvPr id="14" name="Text 9"/>
          <p:cNvSpPr/>
          <p:nvPr/>
        </p:nvSpPr>
        <p:spPr>
          <a:xfrm>
            <a:off x="484831" y="1380883"/>
            <a:ext cx="1953132" cy="42258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5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Rapid State Transitions</a:t>
            </a:r>
            <a:endParaRPr lang="en-US" sz="1440" dirty="0"/>
          </a:p>
        </p:txBody>
      </p:sp>
      <p:pic>
        <p:nvPicPr>
          <p:cNvPr id="15" name="Image 3" descr="https://oceandoc-ai.obs.ap-southeast-3.myhuaweicloud.com:443/image_1763287373689_fXGi4c.jpg"/>
          <p:cNvPicPr>
            <a:picLocks noChangeAspect="1"/>
          </p:cNvPicPr>
          <p:nvPr/>
        </p:nvPicPr>
        <p:blipFill>
          <a:blip r:embed="rId6"/>
          <a:srcRect t="10000" b="10000"/>
          <a:stretch/>
        </p:blipFill>
        <p:spPr>
          <a:xfrm>
            <a:off x="484632" y="3348104"/>
            <a:ext cx="1875434" cy="149961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84831" y="1877608"/>
            <a:ext cx="1953132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Transactions in different states within minutes indicate potential fraud patterns requiring investigation.</a:t>
            </a:r>
            <a:endParaRPr lang="en-US" sz="1440" dirty="0"/>
          </a:p>
        </p:txBody>
      </p:sp>
      <p:sp>
        <p:nvSpPr>
          <p:cNvPr id="17" name="Text 11"/>
          <p:cNvSpPr/>
          <p:nvPr/>
        </p:nvSpPr>
        <p:spPr>
          <a:xfrm>
            <a:off x="2615405" y="1380883"/>
            <a:ext cx="1953132" cy="42258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A85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High-Risk Time Windows</a:t>
            </a:r>
            <a:endParaRPr lang="en-US" sz="1440" dirty="0"/>
          </a:p>
        </p:txBody>
      </p:sp>
      <p:pic>
        <p:nvPicPr>
          <p:cNvPr id="18" name="Image 4" descr="https://oceandoc-ai.obs.ap-southeast-3.myhuaweicloud.com:443/image_1763287376468_LeaQes.jpg"/>
          <p:cNvPicPr>
            <a:picLocks noChangeAspect="1"/>
          </p:cNvPicPr>
          <p:nvPr/>
        </p:nvPicPr>
        <p:blipFill>
          <a:blip r:embed="rId7"/>
          <a:srcRect t="10000" b="10000"/>
          <a:stretch/>
        </p:blipFill>
        <p:spPr>
          <a:xfrm>
            <a:off x="2648705" y="3348104"/>
            <a:ext cx="1875434" cy="149961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2615405" y="1877608"/>
            <a:ext cx="1953132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Late-night cross-state activities show higher fraud probability compared to daytime transactions.</a:t>
            </a:r>
            <a:endParaRPr lang="en-US" sz="1440" dirty="0"/>
          </a:p>
        </p:txBody>
      </p:sp>
      <p:sp>
        <p:nvSpPr>
          <p:cNvPr id="20" name="Text 13"/>
          <p:cNvSpPr/>
          <p:nvPr/>
        </p:nvSpPr>
        <p:spPr>
          <a:xfrm>
            <a:off x="4755452" y="1380883"/>
            <a:ext cx="1953132" cy="42258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5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Geographic Anomalies</a:t>
            </a:r>
            <a:endParaRPr lang="en-US" sz="1440" dirty="0"/>
          </a:p>
        </p:txBody>
      </p:sp>
      <p:pic>
        <p:nvPicPr>
          <p:cNvPr id="21" name="Image 5" descr="https://oceandoc-ai.obs.ap-southeast-3.myhuaweicloud.com:443/image_1763287379279_GpYckT.jpg"/>
          <p:cNvPicPr>
            <a:picLocks noChangeAspect="1"/>
          </p:cNvPicPr>
          <p:nvPr/>
        </p:nvPicPr>
        <p:blipFill>
          <a:blip r:embed="rId8"/>
          <a:srcRect t="10000" b="10000"/>
          <a:stretch/>
        </p:blipFill>
        <p:spPr>
          <a:xfrm>
            <a:off x="4812778" y="3348104"/>
            <a:ext cx="1875434" cy="149961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755452" y="1877608"/>
            <a:ext cx="1953132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Unusual state combinations like ME-NV within minutes flag suspicious cardholder behavior.</a:t>
            </a:r>
            <a:endParaRPr lang="en-US" sz="1440" dirty="0"/>
          </a:p>
        </p:txBody>
      </p:sp>
      <p:sp>
        <p:nvSpPr>
          <p:cNvPr id="23" name="Text 15"/>
          <p:cNvSpPr/>
          <p:nvPr/>
        </p:nvSpPr>
        <p:spPr>
          <a:xfrm>
            <a:off x="6886026" y="1380883"/>
            <a:ext cx="1953132" cy="42258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A85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Velocity Monitoring</a:t>
            </a:r>
            <a:endParaRPr lang="en-US" sz="1440" dirty="0"/>
          </a:p>
        </p:txBody>
      </p:sp>
      <p:pic>
        <p:nvPicPr>
          <p:cNvPr id="24" name="Image 6" descr="https://oceandoc-ai.obs.ap-southeast-3.myhuaweicloud.com:443/image_1763287382076_ZetGqS.jpg"/>
          <p:cNvPicPr>
            <a:picLocks noChangeAspect="1"/>
          </p:cNvPicPr>
          <p:nvPr/>
        </p:nvPicPr>
        <p:blipFill>
          <a:blip r:embed="rId9"/>
          <a:srcRect t="10000" b="10000"/>
          <a:stretch/>
        </p:blipFill>
        <p:spPr>
          <a:xfrm>
            <a:off x="6976851" y="3348104"/>
            <a:ext cx="1875434" cy="149961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886026" y="1877608"/>
            <a:ext cx="1953132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Implementing geo-velocity checks can prevent fraudulent cross-state transaction attempts.</a:t>
            </a:r>
            <a:endParaRPr lang="en-US" sz="14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5128" y="102771"/>
            <a:ext cx="7150733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02B7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Transaction volume by hour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489" y="222075"/>
            <a:ext cx="346608" cy="34660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897" y="222075"/>
            <a:ext cx="346608" cy="34660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305" y="222075"/>
            <a:ext cx="346608" cy="346608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4195682" y="1448012"/>
            <a:ext cx="752635" cy="406423"/>
          </a:xfrm>
          <a:custGeom>
            <a:avLst/>
            <a:gdLst/>
            <a:ahLst/>
            <a:cxnLst/>
            <a:rect l="l" t="t" r="r" b="b"/>
            <a:pathLst>
              <a:path w="752635" h="406423">
                <a:moveTo>
                  <a:pt x="103558" y="0"/>
                </a:moveTo>
                <a:moveTo>
                  <a:pt x="103558" y="0"/>
                </a:moveTo>
                <a:lnTo>
                  <a:pt x="649077" y="0"/>
                </a:lnTo>
                <a:quadBezTo>
                  <a:pt x="752635" y="0"/>
                  <a:pt x="752635" y="103558"/>
                </a:quadBezTo>
                <a:lnTo>
                  <a:pt x="752635" y="302865"/>
                </a:lnTo>
                <a:quadBezTo>
                  <a:pt x="752635" y="406423"/>
                  <a:pt x="649077" y="406423"/>
                </a:quadBezTo>
                <a:lnTo>
                  <a:pt x="103558" y="406423"/>
                </a:lnTo>
                <a:quadBezTo>
                  <a:pt x="0" y="406423"/>
                  <a:pt x="0" y="302865"/>
                </a:quadBezTo>
                <a:lnTo>
                  <a:pt x="0" y="103558"/>
                </a:lnTo>
                <a:quadBezTo>
                  <a:pt x="0" y="0"/>
                  <a:pt x="103558" y="0"/>
                </a:quadBezTo>
                <a:close/>
              </a:path>
            </a:pathLst>
          </a:custGeom>
          <a:solidFill>
            <a:srgbClr val="0055FF">
              <a:alpha val="20000"/>
            </a:srgbClr>
          </a:solidFill>
          <a:ln/>
        </p:spPr>
      </p:sp>
      <p:sp>
        <p:nvSpPr>
          <p:cNvPr id="7" name="Shape 2"/>
          <p:cNvSpPr/>
          <p:nvPr/>
        </p:nvSpPr>
        <p:spPr>
          <a:xfrm>
            <a:off x="3927512" y="2061696"/>
            <a:ext cx="1288975" cy="406423"/>
          </a:xfrm>
          <a:custGeom>
            <a:avLst/>
            <a:gdLst/>
            <a:ahLst/>
            <a:cxnLst/>
            <a:rect l="l" t="t" r="r" b="b"/>
            <a:pathLst>
              <a:path w="1288975" h="406423">
                <a:moveTo>
                  <a:pt x="103558" y="0"/>
                </a:moveTo>
                <a:moveTo>
                  <a:pt x="103558" y="0"/>
                </a:moveTo>
                <a:lnTo>
                  <a:pt x="1185418" y="0"/>
                </a:lnTo>
                <a:quadBezTo>
                  <a:pt x="1288975" y="0"/>
                  <a:pt x="1288975" y="103558"/>
                </a:quadBezTo>
                <a:lnTo>
                  <a:pt x="1288975" y="302865"/>
                </a:lnTo>
                <a:quadBezTo>
                  <a:pt x="1288975" y="406423"/>
                  <a:pt x="1185418" y="406423"/>
                </a:quadBezTo>
                <a:lnTo>
                  <a:pt x="103558" y="406423"/>
                </a:lnTo>
                <a:quadBezTo>
                  <a:pt x="0" y="406423"/>
                  <a:pt x="0" y="302865"/>
                </a:quadBezTo>
                <a:lnTo>
                  <a:pt x="0" y="103558"/>
                </a:lnTo>
                <a:quadBezTo>
                  <a:pt x="0" y="0"/>
                  <a:pt x="103558" y="0"/>
                </a:quadBezTo>
                <a:close/>
              </a:path>
            </a:pathLst>
          </a:custGeom>
          <a:solidFill>
            <a:srgbClr val="0055FF"/>
          </a:solidFill>
          <a:ln/>
        </p:spPr>
      </p:sp>
      <p:sp>
        <p:nvSpPr>
          <p:cNvPr id="8" name="Shape 3"/>
          <p:cNvSpPr/>
          <p:nvPr/>
        </p:nvSpPr>
        <p:spPr>
          <a:xfrm>
            <a:off x="3562625" y="2675381"/>
            <a:ext cx="2018750" cy="406423"/>
          </a:xfrm>
          <a:custGeom>
            <a:avLst/>
            <a:gdLst/>
            <a:ahLst/>
            <a:cxnLst/>
            <a:rect l="l" t="t" r="r" b="b"/>
            <a:pathLst>
              <a:path w="2018750" h="406423">
                <a:moveTo>
                  <a:pt x="103558" y="0"/>
                </a:moveTo>
                <a:moveTo>
                  <a:pt x="103558" y="0"/>
                </a:moveTo>
                <a:lnTo>
                  <a:pt x="1915192" y="0"/>
                </a:lnTo>
                <a:quadBezTo>
                  <a:pt x="2018750" y="0"/>
                  <a:pt x="2018750" y="103558"/>
                </a:quadBezTo>
                <a:lnTo>
                  <a:pt x="2018750" y="302865"/>
                </a:lnTo>
                <a:quadBezTo>
                  <a:pt x="2018750" y="406423"/>
                  <a:pt x="1915192" y="406423"/>
                </a:quadBezTo>
                <a:lnTo>
                  <a:pt x="103558" y="406423"/>
                </a:lnTo>
                <a:quadBezTo>
                  <a:pt x="0" y="406423"/>
                  <a:pt x="0" y="302865"/>
                </a:quadBezTo>
                <a:lnTo>
                  <a:pt x="0" y="103558"/>
                </a:lnTo>
                <a:quadBezTo>
                  <a:pt x="0" y="0"/>
                  <a:pt x="103558" y="0"/>
                </a:quadBezTo>
                <a:close/>
              </a:path>
            </a:pathLst>
          </a:custGeom>
          <a:solidFill>
            <a:srgbClr val="0055FF">
              <a:alpha val="20000"/>
            </a:srgbClr>
          </a:solidFill>
          <a:ln/>
        </p:spPr>
      </p:sp>
      <p:sp>
        <p:nvSpPr>
          <p:cNvPr id="9" name="Shape 4"/>
          <p:cNvSpPr/>
          <p:nvPr/>
        </p:nvSpPr>
        <p:spPr>
          <a:xfrm>
            <a:off x="3215323" y="3289066"/>
            <a:ext cx="2713355" cy="406423"/>
          </a:xfrm>
          <a:custGeom>
            <a:avLst/>
            <a:gdLst/>
            <a:ahLst/>
            <a:cxnLst/>
            <a:rect l="l" t="t" r="r" b="b"/>
            <a:pathLst>
              <a:path w="2713355" h="406423">
                <a:moveTo>
                  <a:pt x="103558" y="0"/>
                </a:moveTo>
                <a:moveTo>
                  <a:pt x="103558" y="0"/>
                </a:moveTo>
                <a:lnTo>
                  <a:pt x="2609797" y="0"/>
                </a:lnTo>
                <a:quadBezTo>
                  <a:pt x="2713355" y="0"/>
                  <a:pt x="2713355" y="103558"/>
                </a:quadBezTo>
                <a:lnTo>
                  <a:pt x="2713355" y="302865"/>
                </a:lnTo>
                <a:quadBezTo>
                  <a:pt x="2713355" y="406423"/>
                  <a:pt x="2609797" y="406423"/>
                </a:quadBezTo>
                <a:lnTo>
                  <a:pt x="103558" y="406423"/>
                </a:lnTo>
                <a:quadBezTo>
                  <a:pt x="0" y="406423"/>
                  <a:pt x="0" y="302865"/>
                </a:quadBezTo>
                <a:lnTo>
                  <a:pt x="0" y="103558"/>
                </a:lnTo>
                <a:quadBezTo>
                  <a:pt x="0" y="0"/>
                  <a:pt x="103558" y="0"/>
                </a:quadBezTo>
                <a:close/>
              </a:path>
            </a:pathLst>
          </a:custGeom>
          <a:solidFill>
            <a:srgbClr val="0055FF"/>
          </a:solidFill>
          <a:ln/>
        </p:spPr>
      </p:sp>
      <p:sp>
        <p:nvSpPr>
          <p:cNvPr id="10" name="Text 5"/>
          <p:cNvSpPr/>
          <p:nvPr/>
        </p:nvSpPr>
        <p:spPr>
          <a:xfrm>
            <a:off x="258693" y="939111"/>
            <a:ext cx="2833736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5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Swipe vs Online Patterns</a:t>
            </a:r>
            <a:endParaRPr lang="en-US" sz="1440" dirty="0"/>
          </a:p>
        </p:txBody>
      </p:sp>
      <p:sp>
        <p:nvSpPr>
          <p:cNvPr id="11" name="Text 6"/>
          <p:cNvSpPr/>
          <p:nvPr/>
        </p:nvSpPr>
        <p:spPr>
          <a:xfrm>
            <a:off x="253537" y="1370708"/>
            <a:ext cx="2838893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Swipe transactions dominate daytime, while online activity increases during late-night hours.</a:t>
            </a:r>
            <a:endParaRPr lang="en-US" sz="1440" dirty="0"/>
          </a:p>
        </p:txBody>
      </p:sp>
      <p:sp>
        <p:nvSpPr>
          <p:cNvPr id="12" name="Text 7"/>
          <p:cNvSpPr/>
          <p:nvPr/>
        </p:nvSpPr>
        <p:spPr>
          <a:xfrm>
            <a:off x="6002866" y="939111"/>
            <a:ext cx="2874389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5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Channel Distribution</a:t>
            </a:r>
            <a:endParaRPr lang="en-US" sz="1440" dirty="0"/>
          </a:p>
        </p:txBody>
      </p:sp>
      <p:sp>
        <p:nvSpPr>
          <p:cNvPr id="13" name="Text 8"/>
          <p:cNvSpPr/>
          <p:nvPr/>
        </p:nvSpPr>
        <p:spPr>
          <a:xfrm>
            <a:off x="6002866" y="1370686"/>
            <a:ext cx="2869730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Swipe transactions consistently represent 80-90% of hourly volume across most time periods.</a:t>
            </a:r>
            <a:endParaRPr lang="en-US" sz="1440" dirty="0"/>
          </a:p>
        </p:txBody>
      </p:sp>
      <p:sp>
        <p:nvSpPr>
          <p:cNvPr id="14" name="Text 9"/>
          <p:cNvSpPr/>
          <p:nvPr/>
        </p:nvSpPr>
        <p:spPr>
          <a:xfrm>
            <a:off x="258693" y="3171161"/>
            <a:ext cx="2833736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5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Peak Hours</a:t>
            </a:r>
            <a:endParaRPr lang="en-US" sz="1440" dirty="0"/>
          </a:p>
        </p:txBody>
      </p:sp>
      <p:sp>
        <p:nvSpPr>
          <p:cNvPr id="15" name="Text 10"/>
          <p:cNvSpPr/>
          <p:nvPr/>
        </p:nvSpPr>
        <p:spPr>
          <a:xfrm>
            <a:off x="253537" y="3595443"/>
            <a:ext cx="2838893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Highest transaction volumes occur between 9am-5pm, with notable decline after business hours.</a:t>
            </a:r>
            <a:endParaRPr lang="en-US" sz="1440" dirty="0"/>
          </a:p>
        </p:txBody>
      </p:sp>
      <p:sp>
        <p:nvSpPr>
          <p:cNvPr id="16" name="Text 11"/>
          <p:cNvSpPr/>
          <p:nvPr/>
        </p:nvSpPr>
        <p:spPr>
          <a:xfrm>
            <a:off x="6002866" y="3171139"/>
            <a:ext cx="2874389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5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Fraud Indicators</a:t>
            </a:r>
            <a:endParaRPr lang="en-US" sz="1440" dirty="0"/>
          </a:p>
        </p:txBody>
      </p:sp>
      <p:sp>
        <p:nvSpPr>
          <p:cNvPr id="17" name="Text 12"/>
          <p:cNvSpPr/>
          <p:nvPr/>
        </p:nvSpPr>
        <p:spPr>
          <a:xfrm>
            <a:off x="6002866" y="3595443"/>
            <a:ext cx="2869730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Nighttime online spikes may indicate card testing, credential stuffing or automated fraud attempts.</a:t>
            </a:r>
            <a:endParaRPr lang="en-US" sz="14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70" y="1959269"/>
            <a:ext cx="5221112" cy="55778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005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Geographic Transaction Patterns</a:t>
            </a:r>
            <a:endParaRPr lang="en-US" sz="1440" dirty="0"/>
          </a:p>
        </p:txBody>
      </p:sp>
      <p:sp>
        <p:nvSpPr>
          <p:cNvPr id="4" name="Text 1"/>
          <p:cNvSpPr/>
          <p:nvPr/>
        </p:nvSpPr>
        <p:spPr>
          <a:xfrm>
            <a:off x="345154" y="742055"/>
            <a:ext cx="1356643" cy="92354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888" b="1" dirty="0">
                <a:solidFill>
                  <a:srgbClr val="002B7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5128" y="102771"/>
            <a:ext cx="7150733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02B7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Transaction value by state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489" y="222075"/>
            <a:ext cx="346608" cy="34660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897" y="222075"/>
            <a:ext cx="346608" cy="34660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305" y="222075"/>
            <a:ext cx="346608" cy="346608"/>
          </a:xfrm>
          <a:prstGeom prst="rect">
            <a:avLst/>
          </a:prstGeom>
        </p:spPr>
      </p:pic>
      <p:pic>
        <p:nvPicPr>
          <p:cNvPr id="6" name="Image 3" descr="https://oceandoc-ai.obs.ap-southeast-3.myhuaweicloud.com:443/image_1763287374032_LKWxxC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76227" y="1152860"/>
            <a:ext cx="1322772" cy="1322772"/>
          </a:xfrm>
          <a:prstGeom prst="ellipse">
            <a:avLst/>
          </a:prstGeom>
        </p:spPr>
      </p:pic>
      <p:pic>
        <p:nvPicPr>
          <p:cNvPr id="8" name="Image 5" descr="https://oceandoc-ai.obs.ap-southeast-3.myhuaweicloud.com:443/image_1763287381003_tkfu78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022076" y="1152860"/>
            <a:ext cx="1322772" cy="1322772"/>
          </a:xfrm>
          <a:prstGeom prst="ellipse">
            <a:avLst/>
          </a:prstGeom>
        </p:spPr>
      </p:pic>
      <p:pic>
        <p:nvPicPr>
          <p:cNvPr id="9" name="Image 6" descr="https://oceandoc-ai.obs.ap-southeast-3.myhuaweicloud.com:443/image_1763287384498_BbcOGR.jp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245001" y="1152860"/>
            <a:ext cx="1322772" cy="1322772"/>
          </a:xfrm>
          <a:prstGeom prst="ellipse">
            <a:avLst/>
          </a:prstGeom>
        </p:spPr>
      </p:pic>
      <p:sp>
        <p:nvSpPr>
          <p:cNvPr id="10" name="Shape 1"/>
          <p:cNvSpPr/>
          <p:nvPr/>
        </p:nvSpPr>
        <p:spPr>
          <a:xfrm>
            <a:off x="393347" y="163136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0"/>
                </a:moveTo>
                <a:moveTo>
                  <a:pt x="182880" y="0"/>
                </a:moveTo>
                <a:cubicBezTo>
                  <a:pt x="283814" y="0"/>
                  <a:pt x="365760" y="81946"/>
                  <a:pt x="365760" y="182880"/>
                </a:cubicBezTo>
                <a:cubicBezTo>
                  <a:pt x="365760" y="283814"/>
                  <a:pt x="283814" y="365760"/>
                  <a:pt x="182880" y="365760"/>
                </a:cubicBezTo>
                <a:cubicBezTo>
                  <a:pt x="81946" y="365760"/>
                  <a:pt x="0" y="283814"/>
                  <a:pt x="0" y="182880"/>
                </a:cubicBezTo>
                <a:cubicBezTo>
                  <a:pt x="0" y="81946"/>
                  <a:pt x="81946" y="0"/>
                  <a:pt x="182880" y="0"/>
                </a:cubicBezTo>
                <a:close/>
              </a:path>
            </a:pathLst>
          </a:custGeom>
          <a:solidFill>
            <a:srgbClr val="0055FF"/>
          </a:solidFill>
          <a:ln/>
        </p:spPr>
      </p:sp>
      <p:sp>
        <p:nvSpPr>
          <p:cNvPr id="11" name="Text 2"/>
          <p:cNvSpPr/>
          <p:nvPr/>
        </p:nvSpPr>
        <p:spPr>
          <a:xfrm>
            <a:off x="331642" y="1585646"/>
            <a:ext cx="489170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440" dirty="0"/>
          </a:p>
        </p:txBody>
      </p:sp>
      <p:sp>
        <p:nvSpPr>
          <p:cNvPr id="12" name="Shape 3"/>
          <p:cNvSpPr/>
          <p:nvPr/>
        </p:nvSpPr>
        <p:spPr>
          <a:xfrm>
            <a:off x="2510494" y="163136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0"/>
                </a:moveTo>
                <a:moveTo>
                  <a:pt x="182880" y="0"/>
                </a:moveTo>
                <a:cubicBezTo>
                  <a:pt x="283814" y="0"/>
                  <a:pt x="365760" y="81946"/>
                  <a:pt x="365760" y="182880"/>
                </a:cubicBezTo>
                <a:cubicBezTo>
                  <a:pt x="365760" y="283814"/>
                  <a:pt x="283814" y="365760"/>
                  <a:pt x="182880" y="365760"/>
                </a:cubicBezTo>
                <a:cubicBezTo>
                  <a:pt x="81946" y="365760"/>
                  <a:pt x="0" y="283814"/>
                  <a:pt x="0" y="182880"/>
                </a:cubicBezTo>
                <a:cubicBezTo>
                  <a:pt x="0" y="81946"/>
                  <a:pt x="81946" y="0"/>
                  <a:pt x="182880" y="0"/>
                </a:cubicBezTo>
                <a:close/>
              </a:path>
            </a:pathLst>
          </a:custGeom>
          <a:solidFill>
            <a:srgbClr val="5A85D9"/>
          </a:solidFill>
          <a:ln/>
        </p:spPr>
      </p:sp>
      <p:sp>
        <p:nvSpPr>
          <p:cNvPr id="13" name="Text 4"/>
          <p:cNvSpPr/>
          <p:nvPr/>
        </p:nvSpPr>
        <p:spPr>
          <a:xfrm>
            <a:off x="2554567" y="1585646"/>
            <a:ext cx="383392" cy="42864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440" dirty="0"/>
          </a:p>
        </p:txBody>
      </p:sp>
      <p:sp>
        <p:nvSpPr>
          <p:cNvPr id="14" name="Shape 5"/>
          <p:cNvSpPr/>
          <p:nvPr/>
        </p:nvSpPr>
        <p:spPr>
          <a:xfrm>
            <a:off x="4839196" y="163136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0"/>
                </a:moveTo>
                <a:moveTo>
                  <a:pt x="182880" y="0"/>
                </a:moveTo>
                <a:cubicBezTo>
                  <a:pt x="283814" y="0"/>
                  <a:pt x="365760" y="81946"/>
                  <a:pt x="365760" y="182880"/>
                </a:cubicBezTo>
                <a:cubicBezTo>
                  <a:pt x="365760" y="283814"/>
                  <a:pt x="283814" y="365760"/>
                  <a:pt x="182880" y="365760"/>
                </a:cubicBezTo>
                <a:cubicBezTo>
                  <a:pt x="81946" y="365760"/>
                  <a:pt x="0" y="283814"/>
                  <a:pt x="0" y="182880"/>
                </a:cubicBezTo>
                <a:cubicBezTo>
                  <a:pt x="0" y="81946"/>
                  <a:pt x="81946" y="0"/>
                  <a:pt x="182880" y="0"/>
                </a:cubicBezTo>
                <a:close/>
              </a:path>
            </a:pathLst>
          </a:custGeom>
          <a:solidFill>
            <a:srgbClr val="0055FF"/>
          </a:solidFill>
          <a:ln/>
        </p:spPr>
      </p:sp>
      <p:sp>
        <p:nvSpPr>
          <p:cNvPr id="15" name="Text 6"/>
          <p:cNvSpPr/>
          <p:nvPr/>
        </p:nvSpPr>
        <p:spPr>
          <a:xfrm>
            <a:off x="4777491" y="1585646"/>
            <a:ext cx="489170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440" dirty="0"/>
          </a:p>
        </p:txBody>
      </p:sp>
      <p:sp>
        <p:nvSpPr>
          <p:cNvPr id="16" name="Shape 7"/>
          <p:cNvSpPr/>
          <p:nvPr/>
        </p:nvSpPr>
        <p:spPr>
          <a:xfrm>
            <a:off x="7062121" y="163136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0"/>
                </a:moveTo>
                <a:moveTo>
                  <a:pt x="182880" y="0"/>
                </a:moveTo>
                <a:cubicBezTo>
                  <a:pt x="283814" y="0"/>
                  <a:pt x="365760" y="81946"/>
                  <a:pt x="365760" y="182880"/>
                </a:cubicBezTo>
                <a:cubicBezTo>
                  <a:pt x="365760" y="283814"/>
                  <a:pt x="283814" y="365760"/>
                  <a:pt x="182880" y="365760"/>
                </a:cubicBezTo>
                <a:cubicBezTo>
                  <a:pt x="81946" y="365760"/>
                  <a:pt x="0" y="283814"/>
                  <a:pt x="0" y="182880"/>
                </a:cubicBezTo>
                <a:cubicBezTo>
                  <a:pt x="0" y="81946"/>
                  <a:pt x="81946" y="0"/>
                  <a:pt x="182880" y="0"/>
                </a:cubicBezTo>
                <a:close/>
              </a:path>
            </a:pathLst>
          </a:custGeom>
          <a:solidFill>
            <a:srgbClr val="5A85D9"/>
          </a:solidFill>
          <a:ln/>
        </p:spPr>
      </p:sp>
      <p:sp>
        <p:nvSpPr>
          <p:cNvPr id="17" name="Text 8"/>
          <p:cNvSpPr/>
          <p:nvPr/>
        </p:nvSpPr>
        <p:spPr>
          <a:xfrm>
            <a:off x="7000416" y="1585646"/>
            <a:ext cx="489170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440" dirty="0"/>
          </a:p>
        </p:txBody>
      </p:sp>
      <p:sp>
        <p:nvSpPr>
          <p:cNvPr id="18" name="Text 9"/>
          <p:cNvSpPr/>
          <p:nvPr/>
        </p:nvSpPr>
        <p:spPr>
          <a:xfrm>
            <a:off x="279514" y="2697320"/>
            <a:ext cx="1916198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5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Geographic Value Distribution</a:t>
            </a:r>
            <a:endParaRPr lang="en-US" sz="1440" dirty="0"/>
          </a:p>
        </p:txBody>
      </p:sp>
      <p:sp>
        <p:nvSpPr>
          <p:cNvPr id="19" name="Text 10"/>
          <p:cNvSpPr/>
          <p:nvPr/>
        </p:nvSpPr>
        <p:spPr>
          <a:xfrm>
            <a:off x="279514" y="3123431"/>
            <a:ext cx="1916198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Highlights states with highest transaction values, revealing business hubs and potential fraud hotspots.</a:t>
            </a:r>
            <a:endParaRPr lang="en-US" sz="1440" dirty="0"/>
          </a:p>
        </p:txBody>
      </p:sp>
      <p:sp>
        <p:nvSpPr>
          <p:cNvPr id="20" name="Text 11"/>
          <p:cNvSpPr/>
          <p:nvPr/>
        </p:nvSpPr>
        <p:spPr>
          <a:xfrm>
            <a:off x="2502439" y="2697320"/>
            <a:ext cx="1916198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A85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Regional Risk Assessment</a:t>
            </a:r>
            <a:endParaRPr lang="en-US" sz="1440" dirty="0"/>
          </a:p>
        </p:txBody>
      </p:sp>
      <p:sp>
        <p:nvSpPr>
          <p:cNvPr id="21" name="Text 12"/>
          <p:cNvSpPr/>
          <p:nvPr/>
        </p:nvSpPr>
        <p:spPr>
          <a:xfrm>
            <a:off x="2502439" y="3123431"/>
            <a:ext cx="1916198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Identifies unusual activity in unexpected states that may signal cloned cards or merchant fraud.</a:t>
            </a:r>
            <a:endParaRPr lang="en-US" sz="1440" dirty="0"/>
          </a:p>
        </p:txBody>
      </p:sp>
      <p:sp>
        <p:nvSpPr>
          <p:cNvPr id="22" name="Text 13"/>
          <p:cNvSpPr/>
          <p:nvPr/>
        </p:nvSpPr>
        <p:spPr>
          <a:xfrm>
            <a:off x="4725363" y="2697320"/>
            <a:ext cx="1916198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5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Value Concentration Patterns</a:t>
            </a:r>
            <a:endParaRPr lang="en-US" sz="1440" dirty="0"/>
          </a:p>
        </p:txBody>
      </p:sp>
      <p:sp>
        <p:nvSpPr>
          <p:cNvPr id="23" name="Text 14"/>
          <p:cNvSpPr/>
          <p:nvPr/>
        </p:nvSpPr>
        <p:spPr>
          <a:xfrm>
            <a:off x="4725363" y="3123431"/>
            <a:ext cx="1916198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Shows where customer spending clusters geographically, helping target investigations of suspicious regional spikes.</a:t>
            </a:r>
            <a:endParaRPr lang="en-US" sz="144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6C08067-90ED-4F18-87C8-2422A31ABF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32180" y="1123408"/>
            <a:ext cx="1564706" cy="1352223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4" name="Text 15"/>
          <p:cNvSpPr/>
          <p:nvPr/>
        </p:nvSpPr>
        <p:spPr>
          <a:xfrm>
            <a:off x="6948288" y="2697320"/>
            <a:ext cx="1916198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A85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State-Level Monitoring</a:t>
            </a:r>
            <a:endParaRPr lang="en-US" sz="1440" dirty="0"/>
          </a:p>
        </p:txBody>
      </p:sp>
      <p:sp>
        <p:nvSpPr>
          <p:cNvPr id="25" name="Text 16"/>
          <p:cNvSpPr/>
          <p:nvPr/>
        </p:nvSpPr>
        <p:spPr>
          <a:xfrm>
            <a:off x="6948288" y="3123431"/>
            <a:ext cx="1916198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Enables geo-velocity checks to flag transactions occurring in non-home states that conflict with travel patterns.</a:t>
            </a:r>
            <a:endParaRPr lang="en-US" sz="14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5128" y="102771"/>
            <a:ext cx="7150733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02B7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High-risk ZIP codes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489" y="222075"/>
            <a:ext cx="346608" cy="34660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897" y="222075"/>
            <a:ext cx="346608" cy="34660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305" y="222075"/>
            <a:ext cx="346608" cy="346608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258693" y="939111"/>
            <a:ext cx="2833736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5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Top Refund Locations</a:t>
            </a:r>
            <a:endParaRPr lang="en-US" sz="1440" dirty="0"/>
          </a:p>
        </p:txBody>
      </p:sp>
      <p:sp>
        <p:nvSpPr>
          <p:cNvPr id="8" name="Text 2"/>
          <p:cNvSpPr/>
          <p:nvPr/>
        </p:nvSpPr>
        <p:spPr>
          <a:xfrm>
            <a:off x="253537" y="1370708"/>
            <a:ext cx="2838893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ZIP codes with highest refund activity indicate potential fraud patterns requiring investigation.</a:t>
            </a:r>
            <a:endParaRPr lang="en-US" sz="1440" dirty="0"/>
          </a:p>
        </p:txBody>
      </p:sp>
      <p:sp>
        <p:nvSpPr>
          <p:cNvPr id="9" name="Text 3"/>
          <p:cNvSpPr/>
          <p:nvPr/>
        </p:nvSpPr>
        <p:spPr>
          <a:xfrm>
            <a:off x="6002866" y="939111"/>
            <a:ext cx="2874389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5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Unknown ZIP Risk</a:t>
            </a:r>
            <a:endParaRPr lang="en-US" sz="1440" dirty="0"/>
          </a:p>
        </p:txBody>
      </p:sp>
      <p:sp>
        <p:nvSpPr>
          <p:cNvPr id="10" name="Text 4"/>
          <p:cNvSpPr/>
          <p:nvPr/>
        </p:nvSpPr>
        <p:spPr>
          <a:xfrm>
            <a:off x="6002866" y="1370686"/>
            <a:ext cx="2869730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Missing ZIP data represents significant vulnerability with highest refund volume across all locations.</a:t>
            </a:r>
            <a:endParaRPr lang="en-US" sz="1440" dirty="0"/>
          </a:p>
        </p:txBody>
      </p:sp>
      <p:sp>
        <p:nvSpPr>
          <p:cNvPr id="11" name="Text 5"/>
          <p:cNvSpPr/>
          <p:nvPr/>
        </p:nvSpPr>
        <p:spPr>
          <a:xfrm>
            <a:off x="258693" y="3171161"/>
            <a:ext cx="2833736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5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Geographic Hotspots</a:t>
            </a:r>
            <a:endParaRPr lang="en-US" sz="1440" dirty="0"/>
          </a:p>
        </p:txBody>
      </p:sp>
      <p:sp>
        <p:nvSpPr>
          <p:cNvPr id="12" name="Text 6"/>
          <p:cNvSpPr/>
          <p:nvPr/>
        </p:nvSpPr>
        <p:spPr>
          <a:xfrm>
            <a:off x="253537" y="3595443"/>
            <a:ext cx="2838893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Clusters in specific regions suggest organized fraud networks or compromised merchant terminals.</a:t>
            </a:r>
            <a:endParaRPr lang="en-US" sz="1440" dirty="0"/>
          </a:p>
        </p:txBody>
      </p:sp>
      <p:sp>
        <p:nvSpPr>
          <p:cNvPr id="13" name="Text 7"/>
          <p:cNvSpPr/>
          <p:nvPr/>
        </p:nvSpPr>
        <p:spPr>
          <a:xfrm>
            <a:off x="6002866" y="3171139"/>
            <a:ext cx="2874389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5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Monitoring Strategy</a:t>
            </a:r>
            <a:endParaRPr lang="en-US" sz="1440" dirty="0"/>
          </a:p>
        </p:txBody>
      </p:sp>
      <p:sp>
        <p:nvSpPr>
          <p:cNvPr id="14" name="Text 8"/>
          <p:cNvSpPr/>
          <p:nvPr/>
        </p:nvSpPr>
        <p:spPr>
          <a:xfrm>
            <a:off x="6002866" y="3595443"/>
            <a:ext cx="2869730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 enhanced verification for high-risk ZIPs to reduce fraudulent transaction attempts.</a:t>
            </a:r>
            <a:endParaRPr lang="en-US" sz="1440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8285CDD-051A-4101-BFEB-DB7B7A323D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519249"/>
              </p:ext>
            </p:extLst>
          </p:nvPr>
        </p:nvGraphicFramePr>
        <p:xfrm>
          <a:off x="3339923" y="1452318"/>
          <a:ext cx="2352387" cy="2746629"/>
        </p:xfrm>
        <a:graphic>
          <a:graphicData uri="http://schemas.openxmlformats.org/drawingml/2006/table">
            <a:tbl>
              <a:tblPr firstRow="1" firstCol="1" bandRow="1">
                <a:tableStyleId>{BDBED569-4797-4DF1-A0F4-6AAB3CD982D8}</a:tableStyleId>
              </a:tblPr>
              <a:tblGrid>
                <a:gridCol w="2352387">
                  <a:extLst>
                    <a:ext uri="{9D8B030D-6E8A-4147-A177-3AD203B41FA5}">
                      <a16:colId xmlns:a16="http://schemas.microsoft.com/office/drawing/2014/main" val="2675141522"/>
                    </a:ext>
                  </a:extLst>
                </a:gridCol>
              </a:tblGrid>
              <a:tr h="13413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Hot refund zips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971" marR="59971" marT="0" marB="0"/>
                </a:tc>
                <a:extLst>
                  <a:ext uri="{0D108BD9-81ED-4DB2-BD59-A6C34878D82A}">
                    <a16:rowId xmlns:a16="http://schemas.microsoft.com/office/drawing/2014/main" val="460600568"/>
                  </a:ext>
                </a:extLst>
              </a:tr>
              <a:tr h="131188"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Zip            Refund Count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71" marR="59971" marT="0" marB="0"/>
                </a:tc>
                <a:extLst>
                  <a:ext uri="{0D108BD9-81ED-4DB2-BD59-A6C34878D82A}">
                    <a16:rowId xmlns:a16="http://schemas.microsoft.com/office/drawing/2014/main" val="2296656714"/>
                  </a:ext>
                </a:extLst>
              </a:tr>
              <a:tr h="131188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0&lt;NA&gt;    1457</a:t>
                      </a:r>
                      <a:endParaRPr lang="en-US" sz="1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71" marR="59971" marT="0" marB="0"/>
                </a:tc>
                <a:extLst>
                  <a:ext uri="{0D108BD9-81ED-4DB2-BD59-A6C34878D82A}">
                    <a16:rowId xmlns:a16="http://schemas.microsoft.com/office/drawing/2014/main" val="2219757419"/>
                  </a:ext>
                </a:extLst>
              </a:tr>
              <a:tr h="131188"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98516     718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71" marR="59971" marT="0" marB="0"/>
                </a:tc>
                <a:extLst>
                  <a:ext uri="{0D108BD9-81ED-4DB2-BD59-A6C34878D82A}">
                    <a16:rowId xmlns:a16="http://schemas.microsoft.com/office/drawing/2014/main" val="2968122023"/>
                  </a:ext>
                </a:extLst>
              </a:tr>
              <a:tr h="131188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29229     570</a:t>
                      </a:r>
                      <a:endParaRPr lang="en-US" sz="1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71" marR="59971" marT="0" marB="0"/>
                </a:tc>
                <a:extLst>
                  <a:ext uri="{0D108BD9-81ED-4DB2-BD59-A6C34878D82A}">
                    <a16:rowId xmlns:a16="http://schemas.microsoft.com/office/drawing/2014/main" val="4154601942"/>
                  </a:ext>
                </a:extLst>
              </a:tr>
              <a:tr h="131188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43830     564</a:t>
                      </a:r>
                      <a:endParaRPr lang="en-US" sz="1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71" marR="59971" marT="0" marB="0"/>
                </a:tc>
                <a:extLst>
                  <a:ext uri="{0D108BD9-81ED-4DB2-BD59-A6C34878D82A}">
                    <a16:rowId xmlns:a16="http://schemas.microsoft.com/office/drawing/2014/main" val="920557340"/>
                  </a:ext>
                </a:extLst>
              </a:tr>
              <a:tr h="131188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77056     526</a:t>
                      </a:r>
                      <a:endParaRPr lang="en-US" sz="1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71" marR="59971" marT="0" marB="0"/>
                </a:tc>
                <a:extLst>
                  <a:ext uri="{0D108BD9-81ED-4DB2-BD59-A6C34878D82A}">
                    <a16:rowId xmlns:a16="http://schemas.microsoft.com/office/drawing/2014/main" val="2022909030"/>
                  </a:ext>
                </a:extLst>
              </a:tr>
              <a:tr h="131188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91606     521</a:t>
                      </a:r>
                      <a:endParaRPr lang="en-US" sz="1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71" marR="59971" marT="0" marB="0"/>
                </a:tc>
                <a:extLst>
                  <a:ext uri="{0D108BD9-81ED-4DB2-BD59-A6C34878D82A}">
                    <a16:rowId xmlns:a16="http://schemas.microsoft.com/office/drawing/2014/main" val="1021897000"/>
                  </a:ext>
                </a:extLst>
              </a:tr>
              <a:tr h="131188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55024     517</a:t>
                      </a:r>
                      <a:endParaRPr lang="en-US" sz="1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71" marR="59971" marT="0" marB="0"/>
                </a:tc>
                <a:extLst>
                  <a:ext uri="{0D108BD9-81ED-4DB2-BD59-A6C34878D82A}">
                    <a16:rowId xmlns:a16="http://schemas.microsoft.com/office/drawing/2014/main" val="3772245645"/>
                  </a:ext>
                </a:extLst>
              </a:tr>
              <a:tr h="131188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94606     464</a:t>
                      </a:r>
                      <a:endParaRPr lang="en-US" sz="1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71" marR="59971" marT="0" marB="0"/>
                </a:tc>
                <a:extLst>
                  <a:ext uri="{0D108BD9-81ED-4DB2-BD59-A6C34878D82A}">
                    <a16:rowId xmlns:a16="http://schemas.microsoft.com/office/drawing/2014/main" val="88124799"/>
                  </a:ext>
                </a:extLst>
              </a:tr>
              <a:tr h="131188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07922     456</a:t>
                      </a:r>
                      <a:endParaRPr lang="en-US" sz="1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71" marR="59971" marT="0" marB="0"/>
                </a:tc>
                <a:extLst>
                  <a:ext uri="{0D108BD9-81ED-4DB2-BD59-A6C34878D82A}">
                    <a16:rowId xmlns:a16="http://schemas.microsoft.com/office/drawing/2014/main" val="3839209555"/>
                  </a:ext>
                </a:extLst>
              </a:tr>
              <a:tr h="131188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96792     370</a:t>
                      </a:r>
                      <a:endParaRPr lang="en-US" sz="1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71" marR="59971" marT="0" marB="0"/>
                </a:tc>
                <a:extLst>
                  <a:ext uri="{0D108BD9-81ED-4DB2-BD59-A6C34878D82A}">
                    <a16:rowId xmlns:a16="http://schemas.microsoft.com/office/drawing/2014/main" val="1076884949"/>
                  </a:ext>
                </a:extLst>
              </a:tr>
              <a:tr h="131188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51023     368</a:t>
                      </a:r>
                      <a:endParaRPr lang="en-US" sz="1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71" marR="59971" marT="0" marB="0"/>
                </a:tc>
                <a:extLst>
                  <a:ext uri="{0D108BD9-81ED-4DB2-BD59-A6C34878D82A}">
                    <a16:rowId xmlns:a16="http://schemas.microsoft.com/office/drawing/2014/main" val="1003813281"/>
                  </a:ext>
                </a:extLst>
              </a:tr>
              <a:tr h="131188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89148     365</a:t>
                      </a:r>
                      <a:endParaRPr lang="en-US" sz="1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71" marR="59971" marT="0" marB="0"/>
                </a:tc>
                <a:extLst>
                  <a:ext uri="{0D108BD9-81ED-4DB2-BD59-A6C34878D82A}">
                    <a16:rowId xmlns:a16="http://schemas.microsoft.com/office/drawing/2014/main" val="1564321437"/>
                  </a:ext>
                </a:extLst>
              </a:tr>
              <a:tr h="131188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51022     349</a:t>
                      </a:r>
                      <a:endParaRPr lang="en-US" sz="1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71" marR="59971" marT="0" marB="0"/>
                </a:tc>
                <a:extLst>
                  <a:ext uri="{0D108BD9-81ED-4DB2-BD59-A6C34878D82A}">
                    <a16:rowId xmlns:a16="http://schemas.microsoft.com/office/drawing/2014/main" val="2225147476"/>
                  </a:ext>
                </a:extLst>
              </a:tr>
              <a:tr h="131188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87121     349</a:t>
                      </a:r>
                      <a:endParaRPr lang="en-US" sz="1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71" marR="59971" marT="0" marB="0"/>
                </a:tc>
                <a:extLst>
                  <a:ext uri="{0D108BD9-81ED-4DB2-BD59-A6C34878D82A}">
                    <a16:rowId xmlns:a16="http://schemas.microsoft.com/office/drawing/2014/main" val="380610894"/>
                  </a:ext>
                </a:extLst>
              </a:tr>
              <a:tr h="131188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48146     348</a:t>
                      </a:r>
                      <a:endParaRPr lang="en-US" sz="10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71" marR="59971" marT="0" marB="0"/>
                </a:tc>
                <a:extLst>
                  <a:ext uri="{0D108BD9-81ED-4DB2-BD59-A6C34878D82A}">
                    <a16:rowId xmlns:a16="http://schemas.microsoft.com/office/drawing/2014/main" val="2513711384"/>
                  </a:ext>
                </a:extLst>
              </a:tr>
              <a:tr h="131188"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80013     328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971" marR="59971" marT="0" marB="0"/>
                </a:tc>
                <a:extLst>
                  <a:ext uri="{0D108BD9-81ED-4DB2-BD59-A6C34878D82A}">
                    <a16:rowId xmlns:a16="http://schemas.microsoft.com/office/drawing/2014/main" val="38468108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5128" y="102771"/>
            <a:ext cx="7150733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02B7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Refund hotspots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489" y="222075"/>
            <a:ext cx="346608" cy="34660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897" y="222075"/>
            <a:ext cx="346608" cy="34660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305" y="222075"/>
            <a:ext cx="346608" cy="346608"/>
          </a:xfrm>
          <a:prstGeom prst="rect">
            <a:avLst/>
          </a:prstGeom>
        </p:spPr>
      </p:pic>
      <p:pic>
        <p:nvPicPr>
          <p:cNvPr id="6" name="Image 3" descr="https://oceandoc-ai.obs.ap-southeast-3.myhuaweicloud.com:443/image_1763287378651_bmocc4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76227" y="1152860"/>
            <a:ext cx="1322772" cy="1322772"/>
          </a:xfrm>
          <a:prstGeom prst="ellipse">
            <a:avLst/>
          </a:prstGeom>
        </p:spPr>
      </p:pic>
      <p:pic>
        <p:nvPicPr>
          <p:cNvPr id="7" name="Image 4" descr="https://oceandoc-ai.obs.ap-southeast-3.myhuaweicloud.com:443/image_1763287381582_W2ftFp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799152" y="1152860"/>
            <a:ext cx="1322772" cy="1322772"/>
          </a:xfrm>
          <a:prstGeom prst="ellipse">
            <a:avLst/>
          </a:prstGeom>
        </p:spPr>
      </p:pic>
      <p:pic>
        <p:nvPicPr>
          <p:cNvPr id="8" name="Image 5" descr="https://oceandoc-ai.obs.ap-southeast-3.myhuaweicloud.com:443/image_1763287385784_B18bhY.jp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022076" y="1152860"/>
            <a:ext cx="1322772" cy="1322772"/>
          </a:xfrm>
          <a:prstGeom prst="ellipse">
            <a:avLst/>
          </a:prstGeom>
        </p:spPr>
      </p:pic>
      <p:pic>
        <p:nvPicPr>
          <p:cNvPr id="9" name="Image 6" descr="https://oceandoc-ai.obs.ap-southeast-3.myhuaweicloud.com:443/image_1763287388984_nM0Cgt.jp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245001" y="1152860"/>
            <a:ext cx="1322772" cy="1322772"/>
          </a:xfrm>
          <a:prstGeom prst="ellipse">
            <a:avLst/>
          </a:prstGeom>
        </p:spPr>
      </p:pic>
      <p:sp>
        <p:nvSpPr>
          <p:cNvPr id="10" name="Shape 1"/>
          <p:cNvSpPr/>
          <p:nvPr/>
        </p:nvSpPr>
        <p:spPr>
          <a:xfrm>
            <a:off x="393347" y="163136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0"/>
                </a:moveTo>
                <a:moveTo>
                  <a:pt x="182880" y="0"/>
                </a:moveTo>
                <a:cubicBezTo>
                  <a:pt x="283814" y="0"/>
                  <a:pt x="365760" y="81946"/>
                  <a:pt x="365760" y="182880"/>
                </a:cubicBezTo>
                <a:cubicBezTo>
                  <a:pt x="365760" y="283814"/>
                  <a:pt x="283814" y="365760"/>
                  <a:pt x="182880" y="365760"/>
                </a:cubicBezTo>
                <a:cubicBezTo>
                  <a:pt x="81946" y="365760"/>
                  <a:pt x="0" y="283814"/>
                  <a:pt x="0" y="182880"/>
                </a:cubicBezTo>
                <a:cubicBezTo>
                  <a:pt x="0" y="81946"/>
                  <a:pt x="81946" y="0"/>
                  <a:pt x="182880" y="0"/>
                </a:cubicBezTo>
                <a:close/>
              </a:path>
            </a:pathLst>
          </a:custGeom>
          <a:solidFill>
            <a:srgbClr val="0055FF"/>
          </a:solidFill>
          <a:ln/>
        </p:spPr>
      </p:sp>
      <p:sp>
        <p:nvSpPr>
          <p:cNvPr id="11" name="Text 2"/>
          <p:cNvSpPr/>
          <p:nvPr/>
        </p:nvSpPr>
        <p:spPr>
          <a:xfrm>
            <a:off x="331642" y="1585646"/>
            <a:ext cx="489170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440" dirty="0"/>
          </a:p>
        </p:txBody>
      </p:sp>
      <p:sp>
        <p:nvSpPr>
          <p:cNvPr id="12" name="Shape 3"/>
          <p:cNvSpPr/>
          <p:nvPr/>
        </p:nvSpPr>
        <p:spPr>
          <a:xfrm>
            <a:off x="2616272" y="163136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0"/>
                </a:moveTo>
                <a:moveTo>
                  <a:pt x="182880" y="0"/>
                </a:moveTo>
                <a:cubicBezTo>
                  <a:pt x="283814" y="0"/>
                  <a:pt x="365760" y="81946"/>
                  <a:pt x="365760" y="182880"/>
                </a:cubicBezTo>
                <a:cubicBezTo>
                  <a:pt x="365760" y="283814"/>
                  <a:pt x="283814" y="365760"/>
                  <a:pt x="182880" y="365760"/>
                </a:cubicBezTo>
                <a:cubicBezTo>
                  <a:pt x="81946" y="365760"/>
                  <a:pt x="0" y="283814"/>
                  <a:pt x="0" y="182880"/>
                </a:cubicBezTo>
                <a:cubicBezTo>
                  <a:pt x="0" y="81946"/>
                  <a:pt x="81946" y="0"/>
                  <a:pt x="182880" y="0"/>
                </a:cubicBezTo>
                <a:close/>
              </a:path>
            </a:pathLst>
          </a:custGeom>
          <a:solidFill>
            <a:srgbClr val="5A85D9"/>
          </a:solidFill>
          <a:ln/>
        </p:spPr>
      </p:sp>
      <p:sp>
        <p:nvSpPr>
          <p:cNvPr id="13" name="Text 4"/>
          <p:cNvSpPr/>
          <p:nvPr/>
        </p:nvSpPr>
        <p:spPr>
          <a:xfrm>
            <a:off x="2554567" y="1585646"/>
            <a:ext cx="489170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440" dirty="0"/>
          </a:p>
        </p:txBody>
      </p:sp>
      <p:sp>
        <p:nvSpPr>
          <p:cNvPr id="14" name="Shape 5"/>
          <p:cNvSpPr/>
          <p:nvPr/>
        </p:nvSpPr>
        <p:spPr>
          <a:xfrm>
            <a:off x="4839196" y="163136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0"/>
                </a:moveTo>
                <a:moveTo>
                  <a:pt x="182880" y="0"/>
                </a:moveTo>
                <a:cubicBezTo>
                  <a:pt x="283814" y="0"/>
                  <a:pt x="365760" y="81946"/>
                  <a:pt x="365760" y="182880"/>
                </a:cubicBezTo>
                <a:cubicBezTo>
                  <a:pt x="365760" y="283814"/>
                  <a:pt x="283814" y="365760"/>
                  <a:pt x="182880" y="365760"/>
                </a:cubicBezTo>
                <a:cubicBezTo>
                  <a:pt x="81946" y="365760"/>
                  <a:pt x="0" y="283814"/>
                  <a:pt x="0" y="182880"/>
                </a:cubicBezTo>
                <a:cubicBezTo>
                  <a:pt x="0" y="81946"/>
                  <a:pt x="81946" y="0"/>
                  <a:pt x="182880" y="0"/>
                </a:cubicBezTo>
                <a:close/>
              </a:path>
            </a:pathLst>
          </a:custGeom>
          <a:solidFill>
            <a:srgbClr val="0055FF"/>
          </a:solidFill>
          <a:ln/>
        </p:spPr>
      </p:sp>
      <p:sp>
        <p:nvSpPr>
          <p:cNvPr id="15" name="Text 6"/>
          <p:cNvSpPr/>
          <p:nvPr/>
        </p:nvSpPr>
        <p:spPr>
          <a:xfrm>
            <a:off x="4777491" y="1585646"/>
            <a:ext cx="489170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440" dirty="0"/>
          </a:p>
        </p:txBody>
      </p:sp>
      <p:sp>
        <p:nvSpPr>
          <p:cNvPr id="16" name="Shape 7"/>
          <p:cNvSpPr/>
          <p:nvPr/>
        </p:nvSpPr>
        <p:spPr>
          <a:xfrm>
            <a:off x="7062121" y="1631366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0"/>
                </a:moveTo>
                <a:moveTo>
                  <a:pt x="182880" y="0"/>
                </a:moveTo>
                <a:cubicBezTo>
                  <a:pt x="283814" y="0"/>
                  <a:pt x="365760" y="81946"/>
                  <a:pt x="365760" y="182880"/>
                </a:cubicBezTo>
                <a:cubicBezTo>
                  <a:pt x="365760" y="283814"/>
                  <a:pt x="283814" y="365760"/>
                  <a:pt x="182880" y="365760"/>
                </a:cubicBezTo>
                <a:cubicBezTo>
                  <a:pt x="81946" y="365760"/>
                  <a:pt x="0" y="283814"/>
                  <a:pt x="0" y="182880"/>
                </a:cubicBezTo>
                <a:cubicBezTo>
                  <a:pt x="0" y="81946"/>
                  <a:pt x="81946" y="0"/>
                  <a:pt x="182880" y="0"/>
                </a:cubicBezTo>
                <a:close/>
              </a:path>
            </a:pathLst>
          </a:custGeom>
          <a:solidFill>
            <a:srgbClr val="5A85D9"/>
          </a:solidFill>
          <a:ln/>
        </p:spPr>
      </p:sp>
      <p:sp>
        <p:nvSpPr>
          <p:cNvPr id="17" name="Text 8"/>
          <p:cNvSpPr/>
          <p:nvPr/>
        </p:nvSpPr>
        <p:spPr>
          <a:xfrm>
            <a:off x="7000416" y="1585646"/>
            <a:ext cx="489170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440" dirty="0"/>
          </a:p>
        </p:txBody>
      </p:sp>
      <p:sp>
        <p:nvSpPr>
          <p:cNvPr id="18" name="Text 9"/>
          <p:cNvSpPr/>
          <p:nvPr/>
        </p:nvSpPr>
        <p:spPr>
          <a:xfrm>
            <a:off x="279514" y="2697320"/>
            <a:ext cx="1916198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5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Top Refund ZIPs</a:t>
            </a:r>
            <a:endParaRPr lang="en-US" sz="1440" dirty="0"/>
          </a:p>
        </p:txBody>
      </p:sp>
      <p:sp>
        <p:nvSpPr>
          <p:cNvPr id="19" name="Text 10"/>
          <p:cNvSpPr/>
          <p:nvPr/>
        </p:nvSpPr>
        <p:spPr>
          <a:xfrm>
            <a:off x="279514" y="3123431"/>
            <a:ext cx="1916198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Identified high-risk areas with unusual refund activity requiring immediate investigation.</a:t>
            </a:r>
            <a:endParaRPr lang="en-US" sz="1440" dirty="0"/>
          </a:p>
        </p:txBody>
      </p:sp>
      <p:sp>
        <p:nvSpPr>
          <p:cNvPr id="20" name="Text 11"/>
          <p:cNvSpPr/>
          <p:nvPr/>
        </p:nvSpPr>
        <p:spPr>
          <a:xfrm>
            <a:off x="2502439" y="2697320"/>
            <a:ext cx="1916198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A85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Refund Patterns</a:t>
            </a:r>
            <a:endParaRPr lang="en-US" sz="1440" dirty="0"/>
          </a:p>
        </p:txBody>
      </p:sp>
      <p:sp>
        <p:nvSpPr>
          <p:cNvPr id="21" name="Text 12"/>
          <p:cNvSpPr/>
          <p:nvPr/>
        </p:nvSpPr>
        <p:spPr>
          <a:xfrm>
            <a:off x="2502439" y="3123431"/>
            <a:ext cx="1916198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Concentrated activity in specific locations suggests potential fraud schemes or merchant issues.</a:t>
            </a:r>
            <a:endParaRPr lang="en-US" sz="1440" dirty="0"/>
          </a:p>
        </p:txBody>
      </p:sp>
      <p:sp>
        <p:nvSpPr>
          <p:cNvPr id="22" name="Text 13"/>
          <p:cNvSpPr/>
          <p:nvPr/>
        </p:nvSpPr>
        <p:spPr>
          <a:xfrm>
            <a:off x="4725363" y="2697320"/>
            <a:ext cx="1916198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5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Risk Indicators</a:t>
            </a:r>
            <a:endParaRPr lang="en-US" sz="1440" dirty="0"/>
          </a:p>
        </p:txBody>
      </p:sp>
      <p:sp>
        <p:nvSpPr>
          <p:cNvPr id="23" name="Text 14"/>
          <p:cNvSpPr/>
          <p:nvPr/>
        </p:nvSpPr>
        <p:spPr>
          <a:xfrm>
            <a:off x="4725363" y="3123431"/>
            <a:ext cx="1916198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ZIP codes with excessive refunds may indicate organized fraud rings or compromised merchant terminals.</a:t>
            </a:r>
            <a:endParaRPr lang="en-US" sz="1440" dirty="0"/>
          </a:p>
        </p:txBody>
      </p:sp>
      <p:sp>
        <p:nvSpPr>
          <p:cNvPr id="24" name="Text 15"/>
          <p:cNvSpPr/>
          <p:nvPr/>
        </p:nvSpPr>
        <p:spPr>
          <a:xfrm>
            <a:off x="6948288" y="2697320"/>
            <a:ext cx="1916198" cy="3895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A85D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Monitoring Strategy</a:t>
            </a:r>
            <a:endParaRPr lang="en-US" sz="1440" dirty="0"/>
          </a:p>
        </p:txBody>
      </p:sp>
      <p:sp>
        <p:nvSpPr>
          <p:cNvPr id="25" name="Text 16"/>
          <p:cNvSpPr/>
          <p:nvPr/>
        </p:nvSpPr>
        <p:spPr>
          <a:xfrm>
            <a:off x="6948288" y="3123431"/>
            <a:ext cx="1916198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 targeted surveillance for high-risk ZIPs to detect and prevent fraudulent refund activity.</a:t>
            </a:r>
            <a:endParaRPr lang="en-US" sz="14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5128" y="102771"/>
            <a:ext cx="7150733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02B7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Channel distribution analysis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489" y="222075"/>
            <a:ext cx="346608" cy="34660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897" y="222075"/>
            <a:ext cx="346608" cy="34660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305" y="222075"/>
            <a:ext cx="346608" cy="34660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58693" y="939111"/>
            <a:ext cx="2833736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5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Swipe vs Online Transactions</a:t>
            </a:r>
            <a:endParaRPr lang="en-US" sz="1440" dirty="0"/>
          </a:p>
        </p:txBody>
      </p:sp>
      <p:sp>
        <p:nvSpPr>
          <p:cNvPr id="8" name="Text 2"/>
          <p:cNvSpPr/>
          <p:nvPr/>
        </p:nvSpPr>
        <p:spPr>
          <a:xfrm>
            <a:off x="253537" y="1370708"/>
            <a:ext cx="2838893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Swipe dominates with 934,123 transactions while online shows 114,249 transactions.</a:t>
            </a:r>
            <a:endParaRPr lang="en-US" sz="1440" dirty="0"/>
          </a:p>
        </p:txBody>
      </p:sp>
      <p:sp>
        <p:nvSpPr>
          <p:cNvPr id="9" name="Text 3"/>
          <p:cNvSpPr/>
          <p:nvPr/>
        </p:nvSpPr>
        <p:spPr>
          <a:xfrm>
            <a:off x="6002866" y="939111"/>
            <a:ext cx="2874389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5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Hourly Transaction Patterns</a:t>
            </a:r>
            <a:endParaRPr lang="en-US" sz="1440" dirty="0"/>
          </a:p>
        </p:txBody>
      </p:sp>
      <p:sp>
        <p:nvSpPr>
          <p:cNvPr id="10" name="Text 4"/>
          <p:cNvSpPr/>
          <p:nvPr/>
        </p:nvSpPr>
        <p:spPr>
          <a:xfrm>
            <a:off x="6002866" y="1370686"/>
            <a:ext cx="2869730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Swipe peaks during business hours while online shows increased activity during late-night hours.</a:t>
            </a:r>
            <a:endParaRPr lang="en-US" sz="1440" dirty="0"/>
          </a:p>
        </p:txBody>
      </p:sp>
      <p:sp>
        <p:nvSpPr>
          <p:cNvPr id="11" name="Text 5"/>
          <p:cNvSpPr/>
          <p:nvPr/>
        </p:nvSpPr>
        <p:spPr>
          <a:xfrm>
            <a:off x="258693" y="3171161"/>
            <a:ext cx="2833736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5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Channel Fraud Indicators</a:t>
            </a:r>
            <a:endParaRPr lang="en-US" sz="1440" dirty="0"/>
          </a:p>
        </p:txBody>
      </p:sp>
      <p:sp>
        <p:nvSpPr>
          <p:cNvPr id="12" name="Text 6"/>
          <p:cNvSpPr/>
          <p:nvPr/>
        </p:nvSpPr>
        <p:spPr>
          <a:xfrm>
            <a:off x="253537" y="3595443"/>
            <a:ext cx="2838893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Online spikes during off-hours may indicate card testing or compromised credentials.</a:t>
            </a:r>
            <a:endParaRPr lang="en-US" sz="1440" dirty="0"/>
          </a:p>
        </p:txBody>
      </p:sp>
      <p:sp>
        <p:nvSpPr>
          <p:cNvPr id="13" name="Text 7"/>
          <p:cNvSpPr/>
          <p:nvPr/>
        </p:nvSpPr>
        <p:spPr>
          <a:xfrm>
            <a:off x="6002866" y="3171139"/>
            <a:ext cx="2874389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55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Risk Management Strategy</a:t>
            </a:r>
            <a:endParaRPr lang="en-US" sz="1440" dirty="0"/>
          </a:p>
        </p:txBody>
      </p:sp>
      <p:sp>
        <p:nvSpPr>
          <p:cNvPr id="14" name="Text 8"/>
          <p:cNvSpPr/>
          <p:nvPr/>
        </p:nvSpPr>
        <p:spPr>
          <a:xfrm>
            <a:off x="6002866" y="3595443"/>
            <a:ext cx="2869730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Monitor channel migration and implement stronger verification for sudden online-only activity.</a:t>
            </a:r>
            <a:endParaRPr lang="en-US" sz="144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014E00B-62C2-4F20-A50A-47A345620E47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3020672" y="1370707"/>
            <a:ext cx="3030899" cy="250220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15396" y="1517076"/>
            <a:ext cx="4313208" cy="11430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5040" b="1" dirty="0">
                <a:solidFill>
                  <a:srgbClr val="002B7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Thanks！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953</Words>
  <Application>Microsoft Office PowerPoint</Application>
  <PresentationFormat>On-screen Show (16:9)</PresentationFormat>
  <Paragraphs>184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Noto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Inspiron</cp:lastModifiedBy>
  <cp:revision>8</cp:revision>
  <dcterms:created xsi:type="dcterms:W3CDTF">2025-11-16T10:05:20Z</dcterms:created>
  <dcterms:modified xsi:type="dcterms:W3CDTF">2025-11-16T11:01:01Z</dcterms:modified>
</cp:coreProperties>
</file>